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11332245d245cf" /><Relationship Type="http://schemas.openxmlformats.org/officeDocument/2006/relationships/extended-properties" Target="/docProps/app.xml" Id="R20d9eb82b9ef4ecb" /><Relationship Type="http://schemas.openxmlformats.org/officeDocument/2006/relationships/officeDocument" Target="/ppt/presentation.xml" Id="R9179d25d262147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5f5ad09d9449ef"/>
  </p:sldMasterIdLst>
  <p:notesMasterIdLst>
    <p:notesMasterId xmlns:r="http://schemas.openxmlformats.org/officeDocument/2006/relationships" r:id="R87e1eaa99fec475c"/>
  </p:notesMasterIdLst>
  <p:sldIdLst>
    <p:sldId xmlns:r="http://schemas.openxmlformats.org/officeDocument/2006/relationships" id="256" r:id="R94c321c6ab0740a1"/>
    <p:sldId xmlns:r="http://schemas.openxmlformats.org/officeDocument/2006/relationships" id="257" r:id="R1d2311722c1344b2"/>
    <p:sldId xmlns:r="http://schemas.openxmlformats.org/officeDocument/2006/relationships" id="258" r:id="R2b2519eaa90c4aa9"/>
    <p:sldId xmlns:r="http://schemas.openxmlformats.org/officeDocument/2006/relationships" id="259" r:id="R3aa287e223a749e8"/>
    <p:sldId xmlns:r="http://schemas.openxmlformats.org/officeDocument/2006/relationships" id="260" r:id="Rf5b6e5fd91814724"/>
    <p:sldId xmlns:r="http://schemas.openxmlformats.org/officeDocument/2006/relationships" id="261" r:id="R3edb884e1acd4f94"/>
    <p:sldId xmlns:r="http://schemas.openxmlformats.org/officeDocument/2006/relationships" id="262" r:id="R063c618ad9c94aff"/>
    <p:sldId xmlns:r="http://schemas.openxmlformats.org/officeDocument/2006/relationships" id="263" r:id="R80e79cc4a19a495f"/>
    <p:sldId xmlns:r="http://schemas.openxmlformats.org/officeDocument/2006/relationships" id="264" r:id="R3838ad9daa434e0b"/>
    <p:sldId xmlns:r="http://schemas.openxmlformats.org/officeDocument/2006/relationships" id="265" r:id="Rc42196684ec946ab"/>
    <p:sldId xmlns:r="http://schemas.openxmlformats.org/officeDocument/2006/relationships" id="266" r:id="R22745118b01b4438"/>
    <p:sldId xmlns:r="http://schemas.openxmlformats.org/officeDocument/2006/relationships" id="267" r:id="R8bfa082f3c5342aa"/>
    <p:sldId xmlns:r="http://schemas.openxmlformats.org/officeDocument/2006/relationships" id="268" r:id="Ra54d9470033c43ca"/>
    <p:sldId xmlns:r="http://schemas.openxmlformats.org/officeDocument/2006/relationships" id="269" r:id="R1f65b5c4156749ea"/>
    <p:sldId xmlns:r="http://schemas.openxmlformats.org/officeDocument/2006/relationships" id="270" r:id="R22266c66267b4b15"/>
    <p:sldId xmlns:r="http://schemas.openxmlformats.org/officeDocument/2006/relationships" id="271" r:id="Racfd883374744aa1"/>
    <p:sldId xmlns:r="http://schemas.openxmlformats.org/officeDocument/2006/relationships" id="272" r:id="Ra28a8369fd74472d"/>
    <p:sldId xmlns:r="http://schemas.openxmlformats.org/officeDocument/2006/relationships" id="273" r:id="Rf79b43617a384b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e100df48a64e3e" /><Relationship Type="http://schemas.openxmlformats.org/officeDocument/2006/relationships/slideMaster" Target="/ppt/slideMasters/slideMaster1.xml" Id="R975f5ad09d9449ef" /><Relationship Type="http://schemas.openxmlformats.org/officeDocument/2006/relationships/notesMaster" Target="/ppt/notesMasters/notesMaster1.xml" Id="R87e1eaa99fec475c" /><Relationship Type="http://schemas.openxmlformats.org/officeDocument/2006/relationships/presProps" Target="/ppt/presProps.xml" Id="Rf756f86c697c41db" /><Relationship Type="http://schemas.openxmlformats.org/officeDocument/2006/relationships/tableStyles" Target="/ppt/tableStyles.xml" Id="R10763a598e234558" /><Relationship Type="http://schemas.openxmlformats.org/officeDocument/2006/relationships/slide" Target="/ppt/slides/slide1.xml" Id="R94c321c6ab0740a1" /><Relationship Type="http://schemas.openxmlformats.org/officeDocument/2006/relationships/slide" Target="/ppt/slides/slide2.xml" Id="R1d2311722c1344b2" /><Relationship Type="http://schemas.openxmlformats.org/officeDocument/2006/relationships/slide" Target="/ppt/slides/slide3.xml" Id="R2b2519eaa90c4aa9" /><Relationship Type="http://schemas.openxmlformats.org/officeDocument/2006/relationships/slide" Target="/ppt/slides/slide4.xml" Id="R3aa287e223a749e8" /><Relationship Type="http://schemas.openxmlformats.org/officeDocument/2006/relationships/slide" Target="/ppt/slides/slide5.xml" Id="Rf5b6e5fd91814724" /><Relationship Type="http://schemas.openxmlformats.org/officeDocument/2006/relationships/slide" Target="/ppt/slides/slide6.xml" Id="R3edb884e1acd4f94" /><Relationship Type="http://schemas.openxmlformats.org/officeDocument/2006/relationships/slide" Target="/ppt/slides/slide7.xml" Id="R063c618ad9c94aff" /><Relationship Type="http://schemas.openxmlformats.org/officeDocument/2006/relationships/slide" Target="/ppt/slides/slide8.xml" Id="R80e79cc4a19a495f" /><Relationship Type="http://schemas.openxmlformats.org/officeDocument/2006/relationships/slide" Target="/ppt/slides/slide9.xml" Id="R3838ad9daa434e0b" /><Relationship Type="http://schemas.openxmlformats.org/officeDocument/2006/relationships/slide" Target="/ppt/slides/slide10.xml" Id="Rc42196684ec946ab" /><Relationship Type="http://schemas.openxmlformats.org/officeDocument/2006/relationships/slide" Target="/ppt/slides/slide11.xml" Id="R22745118b01b4438" /><Relationship Type="http://schemas.openxmlformats.org/officeDocument/2006/relationships/slide" Target="/ppt/slides/slide12.xml" Id="R8bfa082f3c5342aa" /><Relationship Type="http://schemas.openxmlformats.org/officeDocument/2006/relationships/slide" Target="/ppt/slides/slide13.xml" Id="Ra54d9470033c43ca" /><Relationship Type="http://schemas.openxmlformats.org/officeDocument/2006/relationships/slide" Target="/ppt/slides/slide14.xml" Id="R1f65b5c4156749ea" /><Relationship Type="http://schemas.openxmlformats.org/officeDocument/2006/relationships/slide" Target="/ppt/slides/slide15.xml" Id="R22266c66267b4b15" /><Relationship Type="http://schemas.openxmlformats.org/officeDocument/2006/relationships/slide" Target="/ppt/slides/slide16.xml" Id="Racfd883374744aa1" /><Relationship Type="http://schemas.openxmlformats.org/officeDocument/2006/relationships/slide" Target="/ppt/slides/slide17.xml" Id="Ra28a8369fd74472d" /><Relationship Type="http://schemas.openxmlformats.org/officeDocument/2006/relationships/slide" Target="/ppt/slides/slide18.xml" Id="Rf79b43617a384b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8b916bf2ae4c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57a2d81db34b3d" /><Relationship Type="http://schemas.openxmlformats.org/officeDocument/2006/relationships/notesMaster" Target="/ppt/notesMasters/notesMaster1.xml" Id="Re19bd0d9592b4c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d6e47776b341b9" /><Relationship Type="http://schemas.openxmlformats.org/officeDocument/2006/relationships/notesMaster" Target="/ppt/notesMasters/notesMaster1.xml" Id="R4b502214cf6e44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37f23834104d78" /><Relationship Type="http://schemas.openxmlformats.org/officeDocument/2006/relationships/notesMaster" Target="/ppt/notesMasters/notesMaster1.xml" Id="R91594c62550b41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2f529529b34d6e" /><Relationship Type="http://schemas.openxmlformats.org/officeDocument/2006/relationships/notesMaster" Target="/ppt/notesMasters/notesMaster1.xml" Id="R8e3a4b028f1f49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c82c7b6f8e4e67" /><Relationship Type="http://schemas.openxmlformats.org/officeDocument/2006/relationships/notesMaster" Target="/ppt/notesMasters/notesMaster1.xml" Id="Rbf09b2658f8741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cb5e2778674f12" /><Relationship Type="http://schemas.openxmlformats.org/officeDocument/2006/relationships/notesMaster" Target="/ppt/notesMasters/notesMaster1.xml" Id="R816fe5899d124c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9417e9b40a4371" /><Relationship Type="http://schemas.openxmlformats.org/officeDocument/2006/relationships/notesMaster" Target="/ppt/notesMasters/notesMaster1.xml" Id="R927da849d0cc40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5beebe70564304" /><Relationship Type="http://schemas.openxmlformats.org/officeDocument/2006/relationships/notesMaster" Target="/ppt/notesMasters/notesMaster1.xml" Id="R8b0432da390643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d6c91e6ba6426a" /><Relationship Type="http://schemas.openxmlformats.org/officeDocument/2006/relationships/notesMaster" Target="/ppt/notesMasters/notesMaster1.xml" Id="Rdbb808da24b3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4c537dff064be7" /><Relationship Type="http://schemas.openxmlformats.org/officeDocument/2006/relationships/notesMaster" Target="/ppt/notesMasters/notesMaster1.xml" Id="R3737e971dfb049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88ed37760b4b10" /><Relationship Type="http://schemas.openxmlformats.org/officeDocument/2006/relationships/notesMaster" Target="/ppt/notesMasters/notesMaster1.xml" Id="Ra3949dc999c745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c46949aa7b4a00" /><Relationship Type="http://schemas.openxmlformats.org/officeDocument/2006/relationships/notesMaster" Target="/ppt/notesMasters/notesMaster1.xml" Id="Rbd8d7a49a13644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0a4d0cc0234ddf" /><Relationship Type="http://schemas.openxmlformats.org/officeDocument/2006/relationships/notesMaster" Target="/ppt/notesMasters/notesMaster1.xml" Id="R6fbd823802b549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049e5832f94f2a" /><Relationship Type="http://schemas.openxmlformats.org/officeDocument/2006/relationships/notesMaster" Target="/ppt/notesMasters/notesMaster1.xml" Id="R9afb27d640ac45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246fb0e3e6443b" /><Relationship Type="http://schemas.openxmlformats.org/officeDocument/2006/relationships/notesMaster" Target="/ppt/notesMasters/notesMaster1.xml" Id="R07a95d9405d646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1ceab91985465a" /><Relationship Type="http://schemas.openxmlformats.org/officeDocument/2006/relationships/notesMaster" Target="/ppt/notesMasters/notesMaster1.xml" Id="R0b91541ad4d3438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8393e5394d48c0" /><Relationship Type="http://schemas.openxmlformats.org/officeDocument/2006/relationships/notesMaster" Target="/ppt/notesMasters/notesMaster1.xml" Id="Rd66e27dffe1c4a5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ae7768c21ea4b63" /><Relationship Type="http://schemas.openxmlformats.org/officeDocument/2006/relationships/notesMaster" Target="/ppt/notesMasters/notesMaster1.xml" Id="Rd2d6026c1eba41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8b28a3cd346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2d609db91b41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1d4db7634740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8370332af43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c14fdfba1d44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92ee3139a45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0C6D90-9EBC-4C01-9ED4-AF5AAEDB90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934BF68-1C30-4F9C-894B-2652836181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8D68AD-42D0-414C-8E8E-599778D439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F4296A-B97F-439A-B46A-C509FACA5A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8AFBD3-F827-4018-B8A2-62A3ED48D1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94E5BD-FB0E-438A-A241-310834F035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4672D4-7DBB-476E-BF66-65926C1075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DA44C7A-4648-4988-A445-CBBD8D19E8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69EDE6-0AB8-447F-94A5-0C24895C61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604433-A521-4B85-966F-E735133E18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0e4b2a93424161" /><Relationship Type="http://schemas.openxmlformats.org/officeDocument/2006/relationships/slideLayout" Target="/ppt/slideLayouts/slideLayout1.xml" Id="Rf79f562d13ba44ed" /><Relationship Type="http://schemas.openxmlformats.org/officeDocument/2006/relationships/slideLayout" Target="/ppt/slideLayouts/slideLayout2.xml" Id="Re0ac859d232840da" /><Relationship Type="http://schemas.openxmlformats.org/officeDocument/2006/relationships/slideLayout" Target="/ppt/slideLayouts/slideLayout3.xml" Id="R3b3beac3d11442b5" /><Relationship Type="http://schemas.openxmlformats.org/officeDocument/2006/relationships/slideLayout" Target="/ppt/slideLayouts/slideLayout4.xml" Id="R8d58cc6ebb3247ac" /><Relationship Type="http://schemas.openxmlformats.org/officeDocument/2006/relationships/slideLayout" Target="/ppt/slideLayouts/slideLayout5.xml" Id="Rd4aa6098ab3a4aad" /><Relationship Type="http://schemas.openxmlformats.org/officeDocument/2006/relationships/slideLayout" Target="/ppt/slideLayouts/slideLayout6.xml" Id="Rab805805d9764d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9f562d13ba44ed"/>
    <p:sldLayoutId xmlns:r="http://schemas.openxmlformats.org/officeDocument/2006/relationships" id="2147483650" r:id="Re0ac859d232840da"/>
    <p:sldLayoutId xmlns:r="http://schemas.openxmlformats.org/officeDocument/2006/relationships" id="2147483651" r:id="R3b3beac3d11442b5"/>
    <p:sldLayoutId xmlns:r="http://schemas.openxmlformats.org/officeDocument/2006/relationships" id="2147483652" r:id="R8d58cc6ebb3247ac"/>
    <p:sldLayoutId xmlns:r="http://schemas.openxmlformats.org/officeDocument/2006/relationships" id="2147483653" r:id="Rd4aa6098ab3a4aad"/>
    <p:sldLayoutId xmlns:r="http://schemas.openxmlformats.org/officeDocument/2006/relationships" id="2147483654" r:id="Rab805805d9764d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658fff84ad4fb7" /><Relationship Type="http://schemas.openxmlformats.org/officeDocument/2006/relationships/notesSlide" Target="/ppt/notesSlides/notesSlide1.xml" Id="R09c0105a8e6044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c640d032ff4880" /><Relationship Type="http://schemas.openxmlformats.org/officeDocument/2006/relationships/notesSlide" Target="/ppt/notesSlides/notesSlide2.xml" Id="R13a4b67046fb4c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f6e38d76d14c41" /><Relationship Type="http://schemas.openxmlformats.org/officeDocument/2006/relationships/notesSlide" Target="/ppt/notesSlides/notesSlide3.xml" Id="Re7015c5e6ae14c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3613ca3e374706" /><Relationship Type="http://schemas.openxmlformats.org/officeDocument/2006/relationships/notesSlide" Target="/ppt/notesSlides/notesSlide4.xml" Id="R5ae03234b9bf4a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0c78c11364426a" /><Relationship Type="http://schemas.openxmlformats.org/officeDocument/2006/relationships/notesSlide" Target="/ppt/notesSlides/notesSlide5.xml" Id="Ra0777a7059a049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02a82f8bb54d17" /><Relationship Type="http://schemas.openxmlformats.org/officeDocument/2006/relationships/notesSlide" Target="/ppt/notesSlides/notesSlide6.xml" Id="Rc1a61168f20147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3e20fdb8464248" /><Relationship Type="http://schemas.openxmlformats.org/officeDocument/2006/relationships/notesSlide" Target="/ppt/notesSlides/notesSlide7.xml" Id="R88ee857fb30d4b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4720f2eb1c4b44" /><Relationship Type="http://schemas.openxmlformats.org/officeDocument/2006/relationships/notesSlide" Target="/ppt/notesSlides/notesSlide8.xml" Id="R869c2f525deb4d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3c74cc52c34ae7" /><Relationship Type="http://schemas.openxmlformats.org/officeDocument/2006/relationships/notesSlide" Target="/ppt/notesSlides/notesSlide9.xml" Id="R2bf6a8c86ca64e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f244c6f92f499a" /><Relationship Type="http://schemas.openxmlformats.org/officeDocument/2006/relationships/notesSlide" Target="/ppt/notesSlides/notesSlide10.xml" Id="R83da58e4853f4a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89e9a7a37b4730" /><Relationship Type="http://schemas.openxmlformats.org/officeDocument/2006/relationships/notesSlide" Target="/ppt/notesSlides/notesSlide11.xml" Id="Rca09bf73284d48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da6e6cc0e642d9" /><Relationship Type="http://schemas.openxmlformats.org/officeDocument/2006/relationships/notesSlide" Target="/ppt/notesSlides/notesSlide12.xml" Id="R892441d7778a45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65e3d157c1444c" /><Relationship Type="http://schemas.openxmlformats.org/officeDocument/2006/relationships/notesSlide" Target="/ppt/notesSlides/notesSlide13.xml" Id="R8b625ca04daf47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1972aa2951433a" /><Relationship Type="http://schemas.openxmlformats.org/officeDocument/2006/relationships/notesSlide" Target="/ppt/notesSlides/notesSlide14.xml" Id="R2d90e70421204d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c7fdb3541c4113" /><Relationship Type="http://schemas.openxmlformats.org/officeDocument/2006/relationships/notesSlide" Target="/ppt/notesSlides/notesSlide15.xml" Id="R1b16d081243848f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742316b65d406c" /><Relationship Type="http://schemas.openxmlformats.org/officeDocument/2006/relationships/notesSlide" Target="/ppt/notesSlides/notesSlide16.xml" Id="R5fe3fbd4322b4e2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bd113cc3cd4d2d" /><Relationship Type="http://schemas.openxmlformats.org/officeDocument/2006/relationships/notesSlide" Target="/ppt/notesSlides/notesSlide17.xml" Id="R855e8719633d4db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b5cb81904d4507" /><Relationship Type="http://schemas.openxmlformats.org/officeDocument/2006/relationships/notesSlide" Target="/ppt/notesSlides/notesSlide18.xml" Id="Rb88e73217e1048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CC07D3-4A56-4E09-9DD5-2D9082C6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1B6D9-E4C4-4D84-B9D9-8F454BFB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A7F3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7F3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F3EF"/>
                </a:solidFill>
                <a:latin typeface="Arial"/>
                <a:ea typeface="Arial"/>
                <a:cs typeface="Arial"/>
              </a:rPr>
              <a:t>SHOPSENSE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CC7D2-F461-447F-9F0E-210530D7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85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 support and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order-operations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C5B5A-29E9-47C8-9B0A-7CC34F03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M1–M8 capstone implementation</a:t>
            </a:r>
          </a:p>
          <a:p xmlns:a="http://schemas.openxmlformats.org/drawingml/2006/main">
            <a:pPr algn="l">
              <a:defRPr sz="15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Local FastAPI demo, grounded policy answers, and safe operational support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6A1DA-7B19-49A7-BCC6-15B95618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DC7D3-C918-4BF3-BB85-6BB78BF5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028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Structured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E75A8-9FBA-4B2A-A699-4BF6F214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86200"/>
            <a:ext cx="13525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76294-1DFB-429D-B165-C30965D8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6240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Grounded 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DD3BE-E278-4383-B918-9D2C9F8C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8620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6B5D"/>
          </a:solidFill>
          <a:ln xmlns:a="http://schemas.openxmlformats.org/drawingml/2006/main" w="9525">
            <a:solidFill>
              <a:srgbClr val="E46B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D0242-80AB-4755-A9D7-F007B349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62400"/>
            <a:ext cx="1219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 automation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3BBCF-C95F-4B82-9DAF-17AAA4C9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90650"/>
            <a:ext cx="2914650" cy="30099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3385A"/>
          </a:solidFill>
          <a:ln xmlns:a="http://schemas.openxmlformats.org/drawingml/2006/main" w="9525">
            <a:solidFill>
              <a:srgbClr val="1E4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F35AD-96B2-4663-A19A-F946A1CA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52600"/>
            <a:ext cx="23050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AE9C1-4948-4F35-9A43-6B7BAF9D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526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EF"/>
          </a:solidFill>
          <a:ln xmlns:a="http://schemas.openxmlformats.org/drawingml/2006/main" w="9525">
            <a:solidFill>
              <a:srgbClr val="A7F3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933751-3708-4A22-8E70-310FD525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478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Customer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C63C2-AED2-405A-B9C4-2C2D145E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5740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FastAPI /chat request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34440-9F3D-48AA-AA09-66B5FB48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8125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EF"/>
          </a:solidFill>
          <a:ln xmlns:a="http://schemas.openxmlformats.org/drawingml/2006/main" w="9525">
            <a:solidFill>
              <a:srgbClr val="A7F3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8B04C-63A8-4029-949C-D15378DF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23050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7FF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D82691-AD51-4613-B3CC-658D6C34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69EEF5-116B-4381-976D-15D05C1E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Agent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43F974-C88B-47B6-BCAD-88FB2BD4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670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Policy, memory, or operations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687A7-1280-42A3-B41F-6D0E43B6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9090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EF"/>
          </a:solidFill>
          <a:ln xmlns:a="http://schemas.openxmlformats.org/drawingml/2006/main" w="9525">
            <a:solidFill>
              <a:srgbClr val="A7F3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BF304-DDB7-4067-9D90-FFF9B7F8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71900"/>
            <a:ext cx="23050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90BA7C-DFE0-40A2-B3C9-BAAA5186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719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B5D"/>
          </a:solidFill>
          <a:ln xmlns:a="http://schemas.openxmlformats.org/drawingml/2006/main" w="9525">
            <a:solidFill>
              <a:srgbClr val="E46B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733118-C516-4768-BF29-A8D739AA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671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Safe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A10C3B-AAC7-409B-9791-82F3C15E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7670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Grounded answer or human queue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B8165B-8EA5-41E1-B39E-239BF576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Prem Niskeode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7A30B0-92D6-48BA-BCF7-5C3CB61F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A7F3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A7F3E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F3EF"/>
                </a:solidFill>
                <a:latin typeface="Arial"/>
                <a:ea typeface="Arial"/>
                <a:cs typeface="Arial"/>
              </a:rPr>
              <a:t>16 October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3F5FBB-70C4-4102-8D5C-C3517E5D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85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A7F3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7F3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F3EF"/>
                </a:solidFill>
                <a:latin typeface="Arial"/>
                <a:ea typeface="Arial"/>
                <a:cs typeface="Arial"/>
              </a:rPr>
              <a:t>GitHub: https://github.com/pniskeode/ShopSense</a:t>
            </a:r>
          </a:p>
        </p:txBody>
      </p:sp>
    </p:spTree>
    <p:extLst>
      <p:ext uri="{BB962C8B-B14F-4D97-AF65-F5344CB8AC3E}">
        <p14:creationId xmlns:p14="http://schemas.microsoft.com/office/powerpoint/2010/main" val="19507640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A3A5F1-09C1-4C7B-9734-F241FE30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25145-72EC-4E09-B643-7D4B514E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ShopSense handles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739A6-3261-435E-9EF8-6F8F8C7E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 support assistant that combines customer operations with verified policy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0F825-9B43-4535-8621-904BFA28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B4579-70D7-4F08-AF67-C2796191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A43C1-2A2D-4BB6-8577-E7FEBA2D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 | Prem Niskeode | 16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613D6-C6AB-4384-865C-FDAAD0A8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F4164-E052-4ADB-971D-81A54CD4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32004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CE13A-A3F9-40BA-87B7-4E0ED559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762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20EE4-60EC-4075-86CA-810D107C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Customer needs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97A75-C6DE-4EC0-A746-791F5621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28194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Track an order or shipment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Check refund records and approved totals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Ask return, shipping, and warranty questions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Recall saved contact preferences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9364A-9220-40C5-AC81-832762D3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32004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E6F2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69E7F-C71A-4F0F-BCA9-AA276CC9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762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D6EEC-7B66-4B3F-B728-F20735DE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71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System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80694-0F60-459C-8BBD-ADD1A0EC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95550"/>
            <a:ext cx="28194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Reads only customer-safe mock API fields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Cites policy evidence before stating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Routes unsafe or high-value cases to people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Keeps history isolated per customer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A9D3D8-8108-4A70-84A4-304D3372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27241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35AE1-D687-45DD-9992-A1777D4A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B5D"/>
          </a:solidFill>
          <a:ln xmlns:a="http://schemas.openxmlformats.org/drawingml/2006/main" w="9525">
            <a:solidFill>
              <a:srgbClr val="E46B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982C04-47A7-4783-BF0D-4DB24BF5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71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Demo goal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6A8F7-322A-4288-8D00-C01FACF9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95550"/>
            <a:ext cx="23431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Show that every response has a bounded path: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policy evidence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operational data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human review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safe refusal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7658BB-0E8A-4677-825C-04921026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customer-facing entry point is the local FastAPI /chat endpoint. Earlier milestones provide the capabilities beneath it.</a:t>
            </a:r>
          </a:p>
        </p:txBody>
      </p:sp>
    </p:spTree>
    <p:extLst>
      <p:ext uri="{BB962C8B-B14F-4D97-AF65-F5344CB8AC3E}">
        <p14:creationId xmlns:p14="http://schemas.microsoft.com/office/powerpoint/2010/main" val="1464589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2E8B7-6E3A-4F91-81FB-F36A43D1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MILESTONES 1–2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E9B46-2BB7-46CD-84B2-F965D7C6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Reliable intake and operational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E3D56-A6C0-42CD-9CD1-68DCC535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The project begins with validated ticket structure, then adds a single agent with read-only tools.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2750C-F351-4F32-9C39-77485D72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1CB7A-8ED6-4371-9F45-77E7C457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1D0D0-F814-4899-A5C0-AA97B78B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 | Prem Niskeode | 16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C174A-F605-4743-83FB-B134855F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B75C5-0781-4AED-B946-57A4012F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47625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27D2D-FA5D-4662-BB28-57CA79CF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E0EC5-D5F6-4C2E-A7F9-909A9924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M1 · Validated ticket parsing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04E8E-C527-4B61-956D-E7F0DAE4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4381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Input: raw support ticket 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LLM parses issue type, order reference, sentiment, and urgency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Pydantic validates allowed values and repair attempts handle invalid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Output: structured SupportTicket record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055C5-A21A-49F4-8BFF-18437B1B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81200"/>
            <a:ext cx="47625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6F2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12B7C-B9C3-472D-86D8-A19BB67C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812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1E7FD-0A45-48E6-AF6D-AC98BD5C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M2 · Tool-calling customer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44403-74FD-440B-98FE-DBAF3FE6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4381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LangChain agent selects a read-only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Order lookup, shipment tracking, refund/replacement records, approved-refund amount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Mock API data remains unchanged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Output: customer-safe operational answer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2B5FD-6C7A-4CBF-A311-BFFECB32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81600"/>
            <a:ext cx="994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M1 handles historical intake. M2 handles a live operational question when an order reference is available.</a:t>
            </a:r>
          </a:p>
        </p:txBody>
      </p:sp>
    </p:spTree>
    <p:extLst>
      <p:ext uri="{BB962C8B-B14F-4D97-AF65-F5344CB8AC3E}">
        <p14:creationId xmlns:p14="http://schemas.microsoft.com/office/powerpoint/2010/main" val="1738432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CFAE64-A28E-45A8-8AB6-49C08E53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MILESTONES 3–4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BAA27-6944-4011-9BE8-5C46972C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Persistent context and grounded policy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026B8-6EA7-4F83-A37C-B7EEFB83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Customer memory and policy retrieval give the assistant context without allowing it to invent a rule.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16025-0928-4F21-A762-E3EF748F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76DA3-7290-4783-86B5-EAA4DFB3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86E81-0104-4EDA-B7A2-DADE3F4E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 | Prem Niskeode | 16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2F322-B9FA-4794-8DF0-62655BCC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4B292-4AC9-4816-AAFC-4F955700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47625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415CB-AE5A-4AD1-9A0B-E583EC00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441"/>
          </a:solidFill>
          <a:ln xmlns:a="http://schemas.openxmlformats.org/drawingml/2006/main" w="9525">
            <a:solidFill>
              <a:srgbClr val="F2B44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CC209-6477-42F1-B4BB-140C972A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M3 · Memory and document index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A259F-C267-421E-A812-D5B07E00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4381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Stage 1: Supermemory stores past tickets, explicit preferences, and a rolling conversation summary per customer_ref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Stage 2: Qdrant indexes policy Markdown and PDF chunks with source metadata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Memory stays customer-isolated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A8FD6-4E11-4FFE-BFE4-5F8B173D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81200"/>
            <a:ext cx="47625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E2BC1-E3B5-49B9-BA79-A5FD41F1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812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B5D"/>
          </a:solidFill>
          <a:ln xmlns:a="http://schemas.openxmlformats.org/drawingml/2006/main" w="9525">
            <a:solidFill>
              <a:srgbClr val="E46B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146675-D332-411A-A98A-52148133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M4 · Production 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B2DD4-F69A-4172-827F-B4353F19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4381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Hybrid retrieval combines dense Qdrant search and BM25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Cross-encoder reranking selects the strongest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Every policy claim needs an exact source marker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Unsupported or uncited answers safely abstain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97B13-7259-4767-8912-A8BC7FEC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81600"/>
            <a:ext cx="994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Policy documents remain the authority. Retrieval answers policy questions; it never changes mock operational data.</a:t>
            </a:r>
          </a:p>
        </p:txBody>
      </p:sp>
    </p:spTree>
    <p:extLst>
      <p:ext uri="{BB962C8B-B14F-4D97-AF65-F5344CB8AC3E}">
        <p14:creationId xmlns:p14="http://schemas.microsoft.com/office/powerpoint/2010/main" val="8989473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EEAF51-9671-4895-B9C7-853478DB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MILESTONES 5–6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E7563-A7AF-49E2-A9D4-FC426D1A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LangGraph workflow and multi-agent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9A850-45B9-492F-9802-EED06E23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LangGraph makes routing explicit, while MCP makes the same operations reusable across chat and email.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0A73C-FFAD-4846-BDA0-FC74C44E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A96C7-91B0-4B48-B3D5-3252F3AC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73468-D166-45B6-915F-E54528DD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 | Prem Niskeode | 16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27AD5-667F-4048-9DA0-90601DF3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94978-FB17-47AB-AC09-7683730B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47625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2AEC1-3DCE-4957-B4E9-96804C42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5A31E-BEB3-4FAC-A04D-E6FE4FD2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M5 · LangGraph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3DFAE-3B38-41BB-8ACA-139E8D5B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4381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triage → policy-check → action execution → conditional routing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Auto-resolve low-risk cases; high refunds or angry sentiment pause for human approval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Human outcomes: approve or reject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Checkpointing supports an idempotent resume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941F2-43EB-4D4D-9FA6-888E30C4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81200"/>
            <a:ext cx="47625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6F2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30858-357E-49BE-B08A-16B57413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812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FAC601-A665-446D-8988-A55875C7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M6 · Specialist agents plus MCP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63BF9-C9BF-443E-A80F-9939D2F3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4381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Supervisor routes to Triage, Policy RAG, Order-Actions, or Escalation Reviewer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FastMCP exposes customer-safe order, shipment, and refund operations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Same tool contract supports chat and simulated email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BFEAE-CEC6-4755-AC07-88D41EBF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81600"/>
            <a:ext cx="994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M5 governs historical workflow cases. M6 governs live customer conversations and reuses the safe operational boundary.</a:t>
            </a:r>
          </a:p>
        </p:txBody>
      </p:sp>
    </p:spTree>
    <p:extLst>
      <p:ext uri="{BB962C8B-B14F-4D97-AF65-F5344CB8AC3E}">
        <p14:creationId xmlns:p14="http://schemas.microsoft.com/office/powerpoint/2010/main" val="4696175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5D4D4-EB87-450D-B262-08298C80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MILESTONES 7–8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A7DA5-4901-4146-B2CD-9407B8FD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Reliability, observability, evaluation, and FastAPI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6C62B-87C3-4DCB-9A99-087B6EE6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Production controls surround the agent workflow before the final local API exposes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9B00A-7005-4DF5-9DD4-9702FDE4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D9CA1-1FB3-4E7F-84B0-69B11FA0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62122-94C6-4D0F-A0A1-AE327F28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 | Prem Niskeode | 16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6A480-F33B-4A3A-A989-D7B221B7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6EAC4-6571-4A62-BAB8-CA4BBA21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47625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64D5A-EDC7-4122-A976-DEE24E85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441"/>
          </a:solidFill>
          <a:ln xmlns:a="http://schemas.openxmlformats.org/drawingml/2006/main" w="9525">
            <a:solidFill>
              <a:srgbClr val="F2B44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3ECB5-CB6D-4EC1-9977-6FED4B74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M7 · Reliability and tracing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194F1-2CBE-49CC-98E1-1DA27D33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4381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LangFuse traces case_id, workflow nodes, LLM calls, MCP calls, latency, and errors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Retries protect flaky order-system calls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Circuit breaker stops repeated failures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Durable human fallback queue captures unresolved infrastructure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F95E8-FAA3-416E-A089-E373C700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81200"/>
            <a:ext cx="47625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1067E-486E-483D-8BB9-BB8751E2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812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B5D"/>
          </a:solidFill>
          <a:ln xmlns:a="http://schemas.openxmlformats.org/drawingml/2006/main" w="9525">
            <a:solidFill>
              <a:srgbClr val="E46B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B5469-FE72-4B3A-9806-3383ACDE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M8 · Safe demo API and golden evaluation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DC14C-3321-4107-83E6-ED95BDCD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4381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FastAPI POST /chat accepts a live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Guardrails block prompt injection, unsafe refunds, privacy disclosure, and safety risks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Golden evaluation set exercises factual, ambiguous, angry, multi-hop, unsupported, and injection cases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6EA172-64D3-44D2-90CC-59FB9566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81600"/>
            <a:ext cx="994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M8 is the demo boundary. It packages the earlier capabilities into one controlled customer-facing endpoint.</a:t>
            </a:r>
          </a:p>
        </p:txBody>
      </p:sp>
    </p:spTree>
    <p:extLst>
      <p:ext uri="{BB962C8B-B14F-4D97-AF65-F5344CB8AC3E}">
        <p14:creationId xmlns:p14="http://schemas.microsoft.com/office/powerpoint/2010/main" val="20972632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E539DE-62B6-4497-A579-E6417215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A6468-239A-4447-B606-349D919C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Pictorial final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7D3EC-53B9-4D77-9EB6-CB11349B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The stage labels map directly to the detailed eight-step request flow on the next slide; this view emphasizes components and routing.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A6396-AB84-4785-8FEE-D494883D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DE313-F5A4-4B2D-B772-D9E7F12C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E6BFB-CD68-4F37-BA53-B485D2B4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 | Prem Niskeode | 16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9EF3C-0457-4D38-BCA0-4575FB44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48068-43BC-4AF3-9EB7-06CC2351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1638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82037-CFE4-4876-9351-6CEDA436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66E07-5841-405D-8D6E-99DEE306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1–2. FastAPI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A89E7-6FC3-4DF2-9FCC-3196857E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1257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POST /chat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case_id + optional 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3C5DF-8E59-4FBC-AD17-8837D509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956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2456DF-397A-4F4B-9DB4-91206356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05050"/>
            <a:ext cx="18288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5EE1C-2E2A-4D7F-BE53-B513E059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050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B5D"/>
          </a:solidFill>
          <a:ln xmlns:a="http://schemas.openxmlformats.org/drawingml/2006/main" w="9525">
            <a:solidFill>
              <a:srgbClr val="E46B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49F94-5887-41DC-8D23-3104409B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955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3–4. M8 gateway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C5307-917E-4D60-9AA3-B16DAF8B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19400"/>
            <a:ext cx="1447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Guard: injection, safety,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privacy, refund cap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Scope: policy / ops /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38AFB-C350-4962-913D-3B486D9B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956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55D34-4082-42C6-AC45-3DB61E53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19350"/>
            <a:ext cx="17907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6F2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DA9F6-9FEB-4990-8BF9-0A11A99A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19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6864A9-9264-4783-8224-64F662F5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098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5. M6 routing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F9BD1-51D1-4992-879A-A33159AA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33700"/>
            <a:ext cx="1409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Triage extracts intent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Supervisor picks worker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606FFC-5668-4129-AFB5-EC6D86E1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956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8E9E06-2CDA-4600-9F61-0802F8AE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52600"/>
            <a:ext cx="2724150" cy="28003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55C42E-D277-40D9-9B54-8609DBEB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52600"/>
            <a:ext cx="762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A7D84F-43A6-46A9-A6E4-5C286BEE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621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6. Specialist execution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1E10D0-22C4-4002-9B75-AF769518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43150"/>
            <a:ext cx="22669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DBE634-E133-47D2-AE82-AB565C70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43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441"/>
          </a:solidFill>
          <a:ln xmlns:a="http://schemas.openxmlformats.org/drawingml/2006/main" w="9525">
            <a:solidFill>
              <a:srgbClr val="F2B44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01FE66-A03D-4D7E-B096-22924882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384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M4 · Policy RAG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3C0F32-BC92-419A-94EC-BBE3B103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479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Hybrid retrieval and cited policy answers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91D7D4-4CAA-4915-8067-4DF7601E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48000"/>
            <a:ext cx="22669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F2328B-2712-4551-A240-1311F295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480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E9B18A-E386-496D-BE61-2431785F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432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M3 · Customer memory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481937-9541-4CE3-95B4-70D7DD81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528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Past tickets and explicit preferences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FA6B12-957C-4A81-9C19-D44B36E0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52850"/>
            <a:ext cx="22669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6F2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D25A8A-6910-4CD7-9669-3A7FE895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528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B31347-5262-4EED-BFF1-C2F311FA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481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M6/MCP · Order actions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D22541-C9BA-4365-A480-268D1E96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576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Customer-safe operational 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AF2255-4C8F-49E3-9BA0-C708F51B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955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58F977-2E8A-4ED8-899C-6A1F0C16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38350"/>
            <a:ext cx="1447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03A9A8-7ABB-4897-BDBC-9C8F40EB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383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B5D"/>
          </a:solidFill>
          <a:ln xmlns:a="http://schemas.openxmlformats.org/drawingml/2006/main" w="9525">
            <a:solidFill>
              <a:srgbClr val="E46B5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C07E7A-7234-4BB8-9EF8-43D1C083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2288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7. Validate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92AAE5-97A1-452A-936B-647E09A6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5270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Citations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Safe fields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Human route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7F236E-DFA2-481E-BC84-4CCC7DD5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813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CB7049-42E1-48AA-93FE-B830BFB2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24250"/>
            <a:ext cx="1447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F60F58-0952-46AB-8301-39E294E7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24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81F267-EF41-4714-894A-B5477E4D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7147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8. Respond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567EA2-BC75-43E7-B2AA-7977C2D9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03860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Trace + reply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Retry queue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B5266B-119A-4AE5-9859-74231294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M8 may stop unsafe requests before M6. Only the relevant execution component is invoked, and every completed request is traced by M7.</a:t>
            </a:r>
          </a:p>
        </p:txBody>
      </p:sp>
    </p:spTree>
    <p:extLst>
      <p:ext uri="{BB962C8B-B14F-4D97-AF65-F5344CB8AC3E}">
        <p14:creationId xmlns:p14="http://schemas.microsoft.com/office/powerpoint/2010/main" val="17320496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F4DAF5-DE0C-4FC2-9253-B449DB28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27060-BBDE-4CBB-AF96-7378473A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Request flow in eight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3F2F1-83EC-45AF-9F76-67A5552B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This sequence explains the runtime behavior visible in FastAPI responses and LangFuse traces.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FE687-5B4E-42DD-BC13-96977691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54D04-080C-423A-AE03-60EC40D3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EF2F5-E79D-42A5-9BB7-6398C565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 | Prem Niskeode | 16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5FF85-6ED3-42D7-9C2D-1989F839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18090-1732-417B-A7EF-CC61D134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29FF2-E209-43D5-8524-37EAA6ED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33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80EFD-928A-434E-AAB5-E3D7DFF9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57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Receive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6AB18-BCCC-4260-A4A0-EE8670BE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573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FastAPI validates question, optional customer_ref, and optional message_id.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FB081-96AA-4B54-A292-E36B3ADF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552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CD940-3F95-46B4-90DA-083BE055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4347B-5FA7-4161-A0D5-9A081EE4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098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Create identity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EAE64-84ED-4BEA-A1CD-9A51786C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98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The runtime creates a case_id for tracing and idempotency.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02DAC-67F0-4F27-8E73-C7F7B9A5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552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6B5D"/>
          </a:solidFill>
          <a:ln xmlns:a="http://schemas.openxmlformats.org/drawingml/2006/main" w="9525">
            <a:solidFill>
              <a:srgbClr val="E46B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F1ED5-C066-46BF-A2C2-71C55DD8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384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B5F3CC-5C2C-4FCE-A34E-14E47B5B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622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Apply M8 guardrails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68908-D2AA-4B08-BF7C-646011E3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622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Injection, safety, privacy, and high-value refund rules can escalate immediately.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5BB37C-C5EF-4325-85D4-2AF7C354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552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B441"/>
          </a:solidFill>
          <a:ln xmlns:a="http://schemas.openxmlformats.org/drawingml/2006/main" w="9525">
            <a:solidFill>
              <a:srgbClr val="F2B4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29E998-0190-4FB4-A72A-36CB761F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C2E666-EB93-4BBA-8007-2B64DA6A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147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Classify scope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95CD77-34C4-42C0-8A36-596D49C9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147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M8 distinguishes customer memory, operational work, policy work, and unsupported requests.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43B0DB-AC02-4DB8-8A5F-9D8E9C89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552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B1A22A-5942-4C7F-B9DD-2150746A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E049EA-C74E-4D1C-AAF0-3306E015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6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Triage and route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D17190-2757-4FB8-AA10-2490C086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671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M6 Supervisor sends allowed work to the relevant specialist worker.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92A49C-4EF2-4BAE-8840-36A9D73B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552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942AC2-ECC9-4D40-8EDB-92C3FC54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E55900-57BF-495C-A71B-E3776D9F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196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Retrieve or operate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33E923-2EB7-4B32-9B5C-6AA4D905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196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M4 retrieves policy evidence; MCP reads order, shipment, or refund data; M3 recalls memory.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423AE9-D8CC-411F-B2A3-4DDA7C22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552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6B5D"/>
          </a:solidFill>
          <a:ln xmlns:a="http://schemas.openxmlformats.org/drawingml/2006/main" w="9525">
            <a:solidFill>
              <a:srgbClr val="E46B5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5FEFD4-EC55-49AD-A470-49FD561D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482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9F6536-AF66-42D5-9445-44D661FD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720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Validate outcome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6C728F-DFC6-477B-ADD4-B8E1A8EC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720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Policy answers require citations; operational facts come from MCP; risky cases route to people.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BAD6EE-A3E6-4E7E-8174-A5928D9F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552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1A27E0-5269-4549-9431-68DF22BA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007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3E01C2-F5F4-4B3B-AE86-13D03128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7245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Trace and respond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23862E-D4B9-4702-8A5F-E4EF8C87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7245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M7 records the execution; FastAPI returns the customer-safe result.</a:t>
            </a:r>
          </a:p>
        </p:txBody>
      </p:sp>
    </p:spTree>
    <p:extLst>
      <p:ext uri="{BB962C8B-B14F-4D97-AF65-F5344CB8AC3E}">
        <p14:creationId xmlns:p14="http://schemas.microsoft.com/office/powerpoint/2010/main" val="2974077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9BCA63-1A3C-4E8E-8135-0FABA795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15C9C-38F9-42C5-80E7-1F604D65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Agent roles in the final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9227D-C411-4DFE-87F8-7AC03F91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Six runtime agentic roles handle live requests. M1 also supplies a separate parser for historical ticket intake; M3, M7, and M8 are supporting services.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78D6D-E0A9-442B-A2D9-E35FC15E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A1526-A8D7-4770-A8C2-7E6AEF02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4EC1C-68B4-4199-82EB-78600760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 | Prem Niskeode | 16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096BB-8431-45B8-9C38-1B40D95C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DEA07-A255-4D6B-9D2A-674D0D92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514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4C2D8-D9AB-4B04-B5F8-D0693E5C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846B2-FAB9-455F-867A-7236B294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M1 Ticket Parser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49093-5C0A-485B-A2CE-C1B9E6CC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52650"/>
            <a:ext cx="413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Converts raw intake text into a validated SupportTicket.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71BF4-5994-45B1-ACD2-8FD88666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4514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FB6A9-7AC1-41B1-B92B-F61E45F1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35E6E-0BAA-4B93-BE1B-67EFB43D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M2 Customer-Care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7ED75-B513-402A-A70F-F3EF76A3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413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Uses LangChain tools for standalone operational questions.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5F22B7-9C81-455D-A342-BE4171E2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4514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38699A-ADF7-4750-966B-0FF98A80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65059A-01CC-4F93-A547-6992CC73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M6 Supervisor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BED31-E452-4197-92D9-382F6681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13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Chooses the permitted specialist path.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FC5FDD-F03C-423C-914F-777DF1A1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4514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79DCC6-A209-4BAA-B6F0-CD1C9DFE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441"/>
          </a:solidFill>
          <a:ln xmlns:a="http://schemas.openxmlformats.org/drawingml/2006/main" w="9525">
            <a:solidFill>
              <a:srgbClr val="F2B44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7C31D-0731-41C9-9810-F3B879CE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149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Triage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BD721B-20A3-4B90-9704-A00868B7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4450"/>
            <a:ext cx="413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Classifies intent, sentiment, identifiers, and request type.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C5346B-3482-48BC-B544-153433D5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4514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370818-4C02-4668-8863-D80EFE89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B5D"/>
          </a:solidFill>
          <a:ln xmlns:a="http://schemas.openxmlformats.org/drawingml/2006/main" w="9525">
            <a:solidFill>
              <a:srgbClr val="E46B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666689-9DB2-4273-B173-AF7C4BA1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431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Policy RAG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052005-EDBE-44E2-8075-46119257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413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Answers from retrieved policy evidence with citations.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2C16A3-5E2D-46F7-A818-6076186B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38450"/>
            <a:ext cx="4514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A7EE4B-4AE6-4432-8605-2BCD75A6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384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2C902C-80CB-4EBB-8C17-B6381EEE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337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Order-Actions Agent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D0018F-03F6-44DD-9B99-2F41AD20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413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Calls MCP for customer-safe operational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4D2856-DF80-444B-BB7F-A462FA8D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4514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1E48A0-A872-4AB3-985A-0BA1D2EA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376FF-0D36-490F-BD58-CD351D8A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243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Escalation Reviewer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D2C5A3-6744-4395-B932-AF85BA2E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413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Prepares risk context for human review.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3A0BE5-409A-473F-B978-E3C80A3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83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86581"/>
                </a:solidFill>
                <a:latin typeface="Arial"/>
                <a:ea typeface="Arial"/>
                <a:cs typeface="Arial"/>
              </a:rPr>
              <a:t>M8 guardrails and M7 reliability controls are deterministic services around the agent team, not additional agents.</a:t>
            </a:r>
          </a:p>
        </p:txBody>
      </p:sp>
    </p:spTree>
    <p:extLst>
      <p:ext uri="{BB962C8B-B14F-4D97-AF65-F5344CB8AC3E}">
        <p14:creationId xmlns:p14="http://schemas.microsoft.com/office/powerpoint/2010/main" val="2386995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BCF277-9D3F-4313-8692-9F265847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1AF8B-9EB1-4ABF-A2D7-7A8F9DB5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MCP operational tools and their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1B0EE-FED3-4DDB-8BFC-43AE31B1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The Order-Actions Agent accesses mock API data through four read-only customer-safe operations.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E3B99-C38E-4626-8ED8-B0128979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3E10C-3935-41B3-8B0B-EEA23744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30965-3925-42F0-9743-941FFB10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 | Prem Niskeode | 16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65F0C-A750-4BCF-8E34-8534917E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99D79-F666-43AD-8945-A5998086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2209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238B8-A716-48CF-BBB1-7042FDCB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47875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lookup_order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C7504-281D-4049-B6B4-E63B1238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335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Full safe order details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BCF0A-E096-4CDC-B347-BC0A1F1C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335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Order, product, quantities, value, status, and delivery fields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DB98A-741F-4871-82EC-4AB3FA36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209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9CFC9-EAB5-4581-8086-005F29C8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track_shipment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EB365-6BA8-450B-97BF-1C5BA530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670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Shipment tracking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6F233-05E0-43DC-9C07-D34A9F03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670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Carrier, tracking ID, latest scan, location, and timestamp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E62F04-C667-481B-BE00-5D8918BB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2209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B441"/>
          </a:solidFill>
          <a:ln xmlns:a="http://schemas.openxmlformats.org/drawingml/2006/main" w="9525">
            <a:solidFill>
              <a:srgbClr val="F2B4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21925-2975-4862-B5D4-4DFE4C1E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14775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refund_or_replace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307AE-9D28-4618-8244-6523EC27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004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Refund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396224-4DA5-4042-ACEA-0BACE92F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004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All matching refund rows and their status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52F78E-4B4C-425E-BAE4-CD8F5FC0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2209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46B5D"/>
          </a:solidFill>
          <a:ln xmlns:a="http://schemas.openxmlformats.org/drawingml/2006/main" w="9525">
            <a:solidFill>
              <a:srgbClr val="E46B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50ECAF-28B1-4661-9456-6B5D2D2D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48225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get_refund_amount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141B02-FC3B-4D8B-99DA-A3F4730A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339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Refund totals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6FEEEF-F941-4115-8949-5FEFCA39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7339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Approved awaiting payout plus processed, requested, and rejected totals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D99CCD-4AD2-4D26-BCA9-BF928493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Boundary: tools read mock API data only. They do not create, approve, modify, or issue a refund.</a:t>
            </a:r>
          </a:p>
        </p:txBody>
      </p:sp>
    </p:spTree>
    <p:extLst>
      <p:ext uri="{BB962C8B-B14F-4D97-AF65-F5344CB8AC3E}">
        <p14:creationId xmlns:p14="http://schemas.microsoft.com/office/powerpoint/2010/main" val="532232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2F77FD-6ECB-4C05-8E8C-EAF4FEA8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F50B1-420E-4577-9FD6-C8DF9665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Safety, approval, reliability, observability,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148F0-70FB-4603-B091-2A3594EE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Every response has controls around it, rather than relying only on an LLM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D4FF6-0328-47ED-836F-865C78A8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5ACC2-A95A-483D-8D31-4F1CC9E7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2AC81-4340-408B-92A5-F10D446F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 | Prem Niskeode | 16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A03E9-E594-4A10-BE79-1715443C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5BD8E-32F2-4FCB-A9BE-BB6FB9A5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3622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C03E2-160F-455E-AAEF-B2BA8C99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B5D"/>
          </a:solidFill>
          <a:ln xmlns:a="http://schemas.openxmlformats.org/drawingml/2006/main" w="9525">
            <a:solidFill>
              <a:srgbClr val="E46B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FC6AB-4B53-4C11-9A95-97AA0B67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Guardrails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50735-F5AE-45AA-9E3E-6F71DFB6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Block injection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Escalate safety and privacy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Policy cap: ₹2,000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4C011-92A0-473E-A75F-231127B1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47850"/>
            <a:ext cx="23622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91F38-9DA0-48D6-8EE5-9C3A3CF1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4785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441"/>
          </a:solidFill>
          <a:ln xmlns:a="http://schemas.openxmlformats.org/drawingml/2006/main" w="9525">
            <a:solidFill>
              <a:srgbClr val="F2B44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1D72B-613E-41C8-88B3-B6566EB8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383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67A27-C998-4CAC-83B4-C53E37BB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6220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M5 checkpoints high-risk cases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Human approves or rejects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Live risk routes to support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54EA79-55EE-454E-AB43-11124CF6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23622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6F2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22414-665A-4A9E-8B54-B9D85065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FAFD83-2714-4924-860E-B8EE4877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383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79427B-F7E5-4D7B-8999-D8F671C9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Retry flaky API calls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Circuit breaker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Durable fallback queue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4BD63-CAA0-49A3-AA75-7A94D1F5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47850"/>
            <a:ext cx="23622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2785A-C3D4-41C5-86B6-4E6399B3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4785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437AF9-4FA7-4E70-B5E0-7537157B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383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Observability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40188-871E-4A7A-B039-9734DB79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LangFuse uses case_id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Nodes, LLM/MCP spans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Latency and failures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C00643-BAF8-4F80-A9DF-EFB3BCDA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86200"/>
            <a:ext cx="76581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03D1A0-ADAF-49B5-8300-D4D30334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8620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DEBB17-ABF0-4489-B757-841F860B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76700"/>
            <a:ext cx="731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886686-9996-4B81-A67E-9020B2A8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00550"/>
            <a:ext cx="727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Golden set: 20 factual, ambiguous, angry, multi-hop, injection, guardrail, and unsupported tickets.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Evaluator checks every run against its defined grounding and safety expectations.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983414-6472-4669-8E3F-4A6A1961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Policy answers must remain grounded in cited evidence. Operational facts must come from the MCP boundary.</a:t>
            </a:r>
          </a:p>
        </p:txBody>
      </p:sp>
    </p:spTree>
    <p:extLst>
      <p:ext uri="{BB962C8B-B14F-4D97-AF65-F5344CB8AC3E}">
        <p14:creationId xmlns:p14="http://schemas.microsoft.com/office/powerpoint/2010/main" val="20247413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75431-02CE-4C79-A2FD-DBE7B2FE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4E184-BFB1-4BE1-A675-BCF9833E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Local FastAPI and Postman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012BF-719C-4180-8BCF-234D4459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The final demo uses one local endpoint. No golden-set expectation fields are sent in a live chat request.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4955D-707F-4A9F-B33F-FEA33752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938A8-15C7-46B4-A719-8DA9ABE9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793F9-F61E-4D5E-8B9A-474A627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 | Prem Niskeode | 16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EE53A-9C54-4A59-A513-23C169AD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05DCE-6483-4789-9972-307F175E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3624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87157-CE87-47DA-BDD7-DA2728DC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A7F3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F3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7F3EF"/>
                </a:solidFill>
                <a:latin typeface="Arial"/>
                <a:ea typeface="Arial"/>
                <a:cs typeface="Arial"/>
              </a:rPr>
              <a:t>Command 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62C57-8229-48F6-844E-FF267458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3752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cd "C:\Users\Prem Niskeode\Desktop\Agents\capstone-project"</a:t>
            </a:r>
          </a:p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cd shopsense-agent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.venv\Scripts\activate.bat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-m shopsense.api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6CE99-7928-4E15-A45E-1499441C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908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8684F9-AE6F-41A3-8D9D-8E270175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386715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601EB-A733-4E9E-ADCF-4FC83204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B410A-CCBC-4356-82E7-CA5D1F4C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669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Postman 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0036B-4E40-4E12-9656-3EE17D0C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90800"/>
            <a:ext cx="3486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POST  http://127.0.0.1:8000/chat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  "question": "What is the return window for electronics?"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Optional: customer_ref for memory and message_id for idempotent retry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433C9-4F3D-450F-871D-A570EE6F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Response includes a generated case_id, workflow_status, customer-safe message, policy citations when applicable, and guardrail outcome.</a:t>
            </a:r>
          </a:p>
        </p:txBody>
      </p:sp>
    </p:spTree>
    <p:extLst>
      <p:ext uri="{BB962C8B-B14F-4D97-AF65-F5344CB8AC3E}">
        <p14:creationId xmlns:p14="http://schemas.microsoft.com/office/powerpoint/2010/main" val="1750709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10400E-6A49-48B0-B347-7A99E826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D7D99-0C9C-467F-9704-2356F4D4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FastAPI endpoint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77053-9245-4E27-BC3B-5DEB579B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Only /chat is a customer-facing business endpoint. The other routes help verify and explore the local API.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CD55E-EA7B-483F-A9F4-DC10156A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C2EBC-021C-47A6-9866-8FE8FE6D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2B54F-BE61-49B9-8128-833B642A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 | Prem Niskeode | 16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406AA-7C3E-437F-9195-8F177072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BBAF9-5ABC-45E7-8AC5-543C12A0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47DF3-37BD-4AA1-9B70-6F8D9D86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71D6D-74D2-4417-A291-2BCC321F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Start the local server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A1CB0-1155-4B3A-B423-6FD56D6B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Command Prompt: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.venv\Scripts\activate.bat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python -m shopsense.api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Leave this window running while Postman sends requests.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15C6D-224E-4FC4-8888-563E1792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8F1FC-C0ED-46FD-8BD0-D6296E0A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36C19-CC1C-4FC4-BF52-275B3995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00250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Postman defaults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82E8E-1B55-4FF4-BD9F-1AED1E4A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2410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Base URL: http://127.0.0.1:8000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Header for POST: Content-Type: application/json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 fresh case_id is generated for every new request.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EA012-C5DE-4A7D-81DD-1CED10F6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1047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950ED-FA35-489D-9C3C-DC8438F5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F559E-CEE7-44DD-9333-16F95D1A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43300"/>
            <a:ext cx="3676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http://127.0.0.1:8000/health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33BAB9-7D3B-4FB6-8808-55C0095F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Checks that the local service is running.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762181-86AA-4833-A664-FD7C5A1B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47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086AE4-1D4B-4984-B3F7-4E29CA1F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1E7F43-68B1-432D-814E-480ABDFD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76700"/>
            <a:ext cx="3676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http://127.0.0.1:8000/chat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08DB8E-578E-424A-B67B-D312EC79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Runs the ShopSense customer-support workflow. question is required.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C1001-0E1D-434F-B81F-72005E74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1047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1BE7F5-FFF6-4F7A-B29B-28990012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386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0332BB-1E34-40A3-A080-ADA49C18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10100"/>
            <a:ext cx="3676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http://127.0.0.1:8000/docs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41C13B-24B0-49BB-82FE-9ACE617B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01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Opens FastAPI's interactive Swagger UI in the browser.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A0C5D4-8A16-4D79-97F6-E87417E9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1047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05492-8620-4434-9511-FE28C120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D47C45-572F-4D31-ADB1-20C717F1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43500"/>
            <a:ext cx="3676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http://127.0.0.1:8000/openapi.json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BB1810-0F3C-4F93-B5F1-6D727A4A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Returns the machine-readable OpenAPI contract.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9FFAB5-569E-4192-B7FA-8889993F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There are no separate HTTP endpoints for the M2 tools, M3 memory, M4 RAG, M5 workflow, M6 agents, or M7 tracing. /chat orchestrates them when relevant.</a:t>
            </a:r>
          </a:p>
        </p:txBody>
      </p:sp>
    </p:spTree>
    <p:extLst>
      <p:ext uri="{BB962C8B-B14F-4D97-AF65-F5344CB8AC3E}">
        <p14:creationId xmlns:p14="http://schemas.microsoft.com/office/powerpoint/2010/main" val="12640362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473604-D39F-42A1-98ED-03F6D828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DEMO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076A8-90BD-4958-A16D-202E68E6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Policy, grounding, and safety scenarios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E4FA8-AC64-4DF6-975C-D659BC45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Send each question to POST /chat; the right column shows the concise expected-response summary.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A13D0-6BFA-4767-87C8-AA5C25C9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812ED-1DE3-41BF-9D71-B3DC490C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B8A2B-3F66-44F3-82D0-B1CF89C8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 | Prem Niskeode | 16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35504-9DF3-48FC-8AB6-A8EDA5C7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5A825-6B05-4587-9687-829B6997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552450" cy="6667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F40A5-392D-45DC-B0ED-3BC196E0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907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8E84D-C13F-447F-9A4A-34BEBB85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288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are the refund rules related to amount? when human approval is needed?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9C032-C956-4D7E-B84F-5E72DD4A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478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Up to ₹2,000 can be automated; higher approval tiers require people.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3CDB6-A850-4AD6-8A2A-B494A664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552450" cy="6667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46B5D"/>
          </a:solidFill>
          <a:ln xmlns:a="http://schemas.openxmlformats.org/drawingml/2006/main" w="9525">
            <a:solidFill>
              <a:srgbClr val="E46B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90194-4F53-4F2E-94DE-03F8CFA0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69927-C5EB-4E2B-9204-1B943AE0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90825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This is the third time I'm writing. My 34,000 rupee television arrived cracked. Refund it NOW or I'm going to the consumer forum.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D8562-9229-4E7C-97D8-66BA24E1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987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E46B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E46B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46B5D"/>
                </a:solidFill>
                <a:latin typeface="Arial"/>
                <a:ea typeface="Arial"/>
                <a:cs typeface="Arial"/>
              </a:rPr>
              <a:t>Human review: ₹34k, third contact, and legal-action concern.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AD25CC-59E9-4D8B-ADAD-6AFC19D3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552450" cy="6667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2B441"/>
          </a:solidFill>
          <a:ln xmlns:a="http://schemas.openxmlformats.org/drawingml/2006/main" w="9525">
            <a:solidFill>
              <a:srgbClr val="F2B4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EE331-0286-49EB-9EC8-E660C5E7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FFF3B2-38F3-447C-AF6B-EEB8E8A3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5285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 bought a blender 40 days ago and want to return it. Your site says 30 days but a friend said apparel gets 45, so surely kitchen does too?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B3ECC-61EF-4681-92DF-6927CD7C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7190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Home &amp; Kitchen rule: 45 days; apparel exception does not apply.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56BB4C-15F1-4C7B-AE06-18D0E03F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38675"/>
            <a:ext cx="552450" cy="6667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6BA765-DD05-409D-8494-FC32BEA2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C3A9BB-682F-4351-BB7D-DD5E279A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14875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is the company's stance on environmental sustainability?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F9E707-0A43-43A7-A853-56902435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3392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Safe refusal: not covered by the available ShopSense sources.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E05312-2F6A-4C84-9960-6E773021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For the high-value refund scenario, start with the response, then show the M8 guardrail and LangFuse trace.</a:t>
            </a:r>
          </a:p>
        </p:txBody>
      </p:sp>
    </p:spTree>
    <p:extLst>
      <p:ext uri="{BB962C8B-B14F-4D97-AF65-F5344CB8AC3E}">
        <p14:creationId xmlns:p14="http://schemas.microsoft.com/office/powerpoint/2010/main" val="18075134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20FC02-6C96-4722-81B7-99F485EA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DEMO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71CE1-45D9-4488-93B5-40C2C32F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Operations, refunds, shipment, and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D7778-5E5D-4A4C-859C-4CAE80B0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Send each question to POST /chat; the right column shows the concise customer-safe result to expect.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911B9-BA87-4E3B-927E-F9AED7AF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97B0D-3A82-447D-A463-1490856D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368C5-76D6-4265-B621-447DC224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 | Prem Niskeode | 16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3CD68-89A7-4032-BDD1-A646E078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62780-0E6F-4EC3-847F-E8533582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552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C89DD-9197-4A07-A57F-7B2978F6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0A97A-D6B3-4449-A1FE-03FF6C0F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907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give me complete details of this order KW-O-001497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CB470-86C5-4607-99B4-1F4A71EB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81175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Full safe order record: product, quantity, amount, status, and delivery.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84C67-EE6C-4DB0-9571-7069C86F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552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8E24E-5192-4169-95B1-556DE33A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89D38-1D6B-462F-AE53-667D926D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336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customer_ref: KW-C-11111</a:t>
            </a:r>
          </a:p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are my contact preferences?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1C899-0DED-4C92-9493-0E904E6E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24125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Email or message only; phone only for emergencies.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6392D-A1D0-48FE-9666-709FCF76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552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535F95-F61C-42B4-9CAF-3C466515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B0B31D-940D-43D6-A313-C3205012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766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Track the shipment for order KW-O-000004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39D50-7830-45F8-9320-0317FFE2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67075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Ecom Express; delivered at Lake Dennisbury on 2026-06-13 09:39.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799C62-109E-425C-A66B-02282DB9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552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B441"/>
          </a:solidFill>
          <a:ln xmlns:a="http://schemas.openxmlformats.org/drawingml/2006/main" w="9525">
            <a:solidFill>
              <a:srgbClr val="F2B4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90253C-F5C7-40C2-9015-7E6E5A4B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0142B7-D567-40A0-BDCD-565507A2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195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Show the refund records and current refund status for order KW-O-000288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50E6DB-CE33-4D7A-B0D0-076DABB0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10025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Approved ₹24,999 awaiting payout; other status totals are ₹0.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A76F24-D5D9-4BAE-BF1C-790CACB5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552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6B5D"/>
          </a:solidFill>
          <a:ln xmlns:a="http://schemas.openxmlformats.org/drawingml/2006/main" w="9525">
            <a:solidFill>
              <a:srgbClr val="E46B5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0E8539-CAA3-406C-B616-8F2F075E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482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D5D032-DE9B-44AB-9E72-BD175928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625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is the refund amount for order KW-O-000288?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31E9FE-EF5F-489A-8518-E3576F17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52975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₹24,999 approved and awaiting payout; ₹0 processed.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6A4EE7-178C-4B7C-9CB7-F32D77A1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007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Operational responses return full safe details by default. The assistant summarizes only when the customer explicitly asks for a summary.</a:t>
            </a:r>
          </a:p>
        </p:txBody>
      </p:sp>
    </p:spTree>
    <p:extLst>
      <p:ext uri="{BB962C8B-B14F-4D97-AF65-F5344CB8AC3E}">
        <p14:creationId xmlns:p14="http://schemas.microsoft.com/office/powerpoint/2010/main" val="21101541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17EFFE-CD21-4E5C-A0AF-7BF62D81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DEMO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B7671-C074-4DD3-8B3A-E7837ED5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to point out in each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09598-E76F-4B22-A98B-7389F9BF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The goal is controlled behavior: detailed when evidence exists, transparent when it does not.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314C1-3334-4054-B70C-D7219EC5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88407-5743-4C78-ADF7-28201A4D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7BBB5-393B-4221-AA0F-D686952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 | Prem Niskeode | 16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DCBFB-B192-4C9A-9E03-0EE02EEB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C75F7-699A-44A5-8447-B6D04E3C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552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0A972-5E99-4ECF-A08C-B2FCD928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716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B1717-1F43-4658-9697-462AF5DB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954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Policy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67769-560E-4B75-9CC2-0800A416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954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Citations identify the supporting policy chunks. No invented return window or refund amount.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3FA41-60D3-4C8D-9447-C2BCD155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552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0C091-62D3-4BC5-9CDA-4B26B302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8BE7E-DC89-4769-A0E3-D4E9997A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241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Operational 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1A53A-CB22-4B3E-A2BA-6D93B076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241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MCP provides the record. The output gives complete safe details unless the request asks for a summary.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2A69FB-6A37-4FC5-9AE7-F7F749D5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552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6B5D"/>
          </a:solidFill>
          <a:ln xmlns:a="http://schemas.openxmlformats.org/drawingml/2006/main" w="9525">
            <a:solidFill>
              <a:srgbClr val="E46B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6C1C21-ABB2-47DF-B036-4DF1DA2A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289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3C05DB-DD84-4302-A70D-18F41992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527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High-risk request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0C8D7-53A9-434C-993B-9452BABE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527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M8 routes to human support before any operational action. It acknowledges concern without admitting fault.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BCA9E1-F76E-448D-9DF5-BA016279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552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B441"/>
          </a:solidFill>
          <a:ln xmlns:a="http://schemas.openxmlformats.org/drawingml/2006/main" w="9525">
            <a:solidFill>
              <a:srgbClr val="F2B4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ACF66-97DB-42DB-B65F-4C2B0FEF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E30C34-31E9-473D-9AC6-79E454C8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814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Memory question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E16368-E97C-4106-A609-3DB99C3B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814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M3 reads only the supplied customer's namespace and shows saved preferences or past-ticket context.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2C8FDF-1BBB-41AE-BF65-68BA0B6A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552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901149-D73E-42AB-8842-004FB850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862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5E9682-977F-42AE-AA66-5B8ADF47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100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Unsupported request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F95A4E-7FFB-4DFB-A2A7-671301BE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100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M8 refuses cleanly with no irrelevant policy citation and no fabricated corporate information.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2C82AC-820E-4C03-8A19-6131D4C7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552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64F58C-CA6C-4313-B025-1863F425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14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B3FF92-1467-49F7-8093-BBFFE15F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387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F412A7-7034-4EC5-A80E-D61785A0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387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LangFuse shows the case_id, selected nodes, LLM spans, MCP calls, duration, retries, and failures.</a:t>
            </a:r>
          </a:p>
        </p:txBody>
      </p:sp>
    </p:spTree>
    <p:extLst>
      <p:ext uri="{BB962C8B-B14F-4D97-AF65-F5344CB8AC3E}">
        <p14:creationId xmlns:p14="http://schemas.microsoft.com/office/powerpoint/2010/main" val="2076952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799CA-0C62-48A5-B0B2-74046946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F9D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D9A"/>
                </a:solidFill>
                <a:latin typeface="Arial"/>
                <a:ea typeface="Arial"/>
                <a:cs typeface="Arial"/>
              </a:rPr>
              <a:t>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CE675-3035-422F-B205-C1EB901D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Ten-minute presentation and demo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D77B1-6F83-4E5E-A718-921BB5C6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The structure keeps the narrative concise while giving the audience evidence that the system is grounded and controlled.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4F4FC-AE79-4B4B-A3F6-AC9254B2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8D409-62D1-4A3A-83DB-C7793A87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48D00-949A-4443-BF05-72B74CD2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ShopSense capstone | Prem Niskeode | 16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A992C-59BD-499E-9E57-6243809F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1EBE9-8389-4F77-BC7E-E3F1A026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6383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145B6-901E-42F3-86FF-C1CFFC41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0:00–1:00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AD2A6-A134-4BA6-BB8B-E8812E84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431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Problem and M1–M8 roadmap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0A239-4B62-4F3C-96C9-8F7C49E4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8120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Slides 1–6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B872A-C5D8-4C66-BB29-CE1D0672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6383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BCF78-C887-44F6-9581-0EA49F6D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1:00–3:00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566C8-DD85-43DA-B504-8087A423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289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Architecture, agents, and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265B3-8E9D-4D16-AB3E-4060F670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6700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Slides 7–10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7983D-793D-4D43-AFEB-1458B564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6383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C9BB0-C43C-4E96-9B43-DC9375B3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3:00–4:00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C0EF84-E9D7-433C-9E47-8BC3F836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147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Controls, endpoints, and FastAPI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94BE0-4083-466E-9488-D52FBAAE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Slides 11–13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FE3951-733A-46C1-BE3C-7A1998C6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16383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2B441"/>
          </a:solidFill>
          <a:ln xmlns:a="http://schemas.openxmlformats.org/drawingml/2006/main" w="9525">
            <a:solidFill>
              <a:srgbClr val="F2B4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C5FE44-C242-4A57-B138-7128DE62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4:00–8:30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E5E961-1F46-4790-9336-913E7A23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005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Run the nine prepared Postman questions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4755E7-AEAA-48CE-B7B9-C3C83CC0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3860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Slides 14–16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E583BA-9AA7-416F-98A1-DEAD4CA5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16383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46B5D"/>
          </a:solidFill>
          <a:ln xmlns:a="http://schemas.openxmlformats.org/drawingml/2006/main" w="9525">
            <a:solidFill>
              <a:srgbClr val="E46B5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26B04C-3134-4CBC-90EA-EBF41697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8:30–10:00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5E016F-1E24-4786-A5EB-A4A276F6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863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Open one LangFuse trace and close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6E8FCF-E5AC-421E-AC38-BC1A8FC4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2440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Slides 16–18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8F7F98-6FE7-47D7-A805-7F006B12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Keep the live demo focused on the response path and the LangFuse trace. The implementation details remain available in the preceding slides.</a:t>
            </a:r>
          </a:p>
        </p:txBody>
      </p:sp>
    </p:spTree>
    <p:extLst>
      <p:ext uri="{BB962C8B-B14F-4D97-AF65-F5344CB8AC3E}">
        <p14:creationId xmlns:p14="http://schemas.microsoft.com/office/powerpoint/2010/main" val="16977987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F98B53-40EA-4A71-9519-E6F782CA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0653C-51DE-474A-AE84-F998ECF3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A7F3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A7F3E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7F3EF"/>
                </a:solidFill>
                <a:latin typeface="Arial"/>
                <a:ea typeface="Arial"/>
                <a:cs typeface="Arial"/>
              </a:rPr>
              <a:t>CLOSING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907F0-C1DE-4C67-BED1-3F7E5D67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ShopSense provides a controlled path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customer question to resolution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973F4-FFCE-4527-A3E6-B4FF63DD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F7002-D81E-48AA-9AB0-A958185C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1A6F9-4C20-4F9C-AEF0-EE31B233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Grounded policy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772CD-BCD7-4C88-9E4B-BB21D0D9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M4 evidence and M8 claim checks protect policy answers.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CD8CB-4A5B-4D7C-A837-8FF05601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A136A-76FA-49FA-9843-4680742A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02DE4-4FE6-4FDC-B64E-14403F1E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6C318-15A9-4A54-8F61-09029328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04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MCP exposes customer-safe read-only mock API fields.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7FA92-692B-4D4F-A25A-000FBE33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9525">
            <a:solidFill>
              <a:srgbClr val="0F9D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B4288-EA5D-4664-B865-D487DEB4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BF4C9-4FC3-4875-BFC7-AA7AF835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71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3236C-9BB9-4F57-98F4-352A4AF0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14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M5 approval, M7 fallback queue, and M8 guardrails protect risky cases.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15A9A-9C6F-40C5-95D6-A7E9AECF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224790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88816C-A242-4357-B73B-B8702181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EF"/>
          </a:solidFill>
          <a:ln xmlns:a="http://schemas.openxmlformats.org/drawingml/2006/main" w="9525">
            <a:solidFill>
              <a:srgbClr val="A7F3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12D05E-0EFE-480F-86BA-B989BCF5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479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Final demo checklist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29EDA1-A3E2-4052-80DA-7FD685D2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71800"/>
            <a:ext cx="18669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1. Activate .venv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2. Start FastAPI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3. Send prepared questions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4. Open LangFuse trace</a:t>
            </a:r>
          </a:p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5. Show safe escalation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0EFEED-2B63-49F5-8579-FCEF263F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A7F3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A7F3E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F3EF"/>
                </a:solidFill>
                <a:latin typeface="Arial"/>
                <a:ea typeface="Arial"/>
                <a:cs typeface="Arial"/>
              </a:rPr>
              <a:t>Prem Niskeode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3CDDE1-B98C-45D0-AD1B-B2AA873B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B6C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B6CBD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6CBDD"/>
                </a:solidFill>
                <a:latin typeface="Arial"/>
                <a:ea typeface="Arial"/>
                <a:cs typeface="Arial"/>
              </a:rPr>
              <a:t>16 October 2026</a:t>
            </a:r>
          </a:p>
        </p:txBody>
      </p:sp>
    </p:spTree>
    <p:extLst>
      <p:ext uri="{BB962C8B-B14F-4D97-AF65-F5344CB8AC3E}">
        <p14:creationId xmlns:p14="http://schemas.microsoft.com/office/powerpoint/2010/main" val="6019780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2026-10-16T06:50:04.4010000Z</dcterms:created>
  <dcterms:modified xsi:type="dcterms:W3CDTF">2026-10-16T06:50:04.4010000Z</dcterms:modified>
</coreProperties>
</file>