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3670154a124efb" /><Relationship Type="http://schemas.openxmlformats.org/officeDocument/2006/relationships/extended-properties" Target="/docProps/app.xml" Id="R9fcca4ef6dcd4cd4" /><Relationship Type="http://schemas.openxmlformats.org/officeDocument/2006/relationships/officeDocument" Target="/ppt/presentation.xml" Id="Rf7eff367755c4a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28c089f9ea4d13"/>
  </p:sldMasterIdLst>
  <p:notesMasterIdLst>
    <p:notesMasterId xmlns:r="http://schemas.openxmlformats.org/officeDocument/2006/relationships" r:id="Racc1fb80233e4d05"/>
  </p:notesMasterIdLst>
  <p:sldIdLst>
    <p:sldId xmlns:r="http://schemas.openxmlformats.org/officeDocument/2006/relationships" id="256" r:id="Ra88ca97197834311"/>
    <p:sldId xmlns:r="http://schemas.openxmlformats.org/officeDocument/2006/relationships" id="257" r:id="R02b2f210f1b5431e"/>
    <p:sldId xmlns:r="http://schemas.openxmlformats.org/officeDocument/2006/relationships" id="258" r:id="Rb83fd8ed59c9430a"/>
    <p:sldId xmlns:r="http://schemas.openxmlformats.org/officeDocument/2006/relationships" id="259" r:id="Rae3da1c04ded4219"/>
    <p:sldId xmlns:r="http://schemas.openxmlformats.org/officeDocument/2006/relationships" id="260" r:id="R556f3341e04a4787"/>
    <p:sldId xmlns:r="http://schemas.openxmlformats.org/officeDocument/2006/relationships" id="261" r:id="R1d610bafdb1e48cf"/>
    <p:sldId xmlns:r="http://schemas.openxmlformats.org/officeDocument/2006/relationships" id="262" r:id="Rd4c669247f11407c"/>
    <p:sldId xmlns:r="http://schemas.openxmlformats.org/officeDocument/2006/relationships" id="263" r:id="Rf2ea50cf916940e8"/>
    <p:sldId xmlns:r="http://schemas.openxmlformats.org/officeDocument/2006/relationships" id="264" r:id="Rd2ddc73ee6a8412d"/>
    <p:sldId xmlns:r="http://schemas.openxmlformats.org/officeDocument/2006/relationships" id="265" r:id="Rd9685cd78b9743c4"/>
    <p:sldId xmlns:r="http://schemas.openxmlformats.org/officeDocument/2006/relationships" id="266" r:id="R4a65838ef9d9404b"/>
    <p:sldId xmlns:r="http://schemas.openxmlformats.org/officeDocument/2006/relationships" id="267" r:id="R069e629ffe5d4e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231b0ec4064646" /><Relationship Type="http://schemas.openxmlformats.org/officeDocument/2006/relationships/slideMaster" Target="/ppt/slideMasters/slideMaster1.xml" Id="R1628c089f9ea4d13" /><Relationship Type="http://schemas.openxmlformats.org/officeDocument/2006/relationships/notesMaster" Target="/ppt/notesMasters/notesMaster1.xml" Id="Racc1fb80233e4d05" /><Relationship Type="http://schemas.openxmlformats.org/officeDocument/2006/relationships/presProps" Target="/ppt/presProps.xml" Id="R9464839945404079" /><Relationship Type="http://schemas.openxmlformats.org/officeDocument/2006/relationships/tableStyles" Target="/ppt/tableStyles.xml" Id="Rfe87bd2db004411c" /><Relationship Type="http://schemas.openxmlformats.org/officeDocument/2006/relationships/slide" Target="/ppt/slides/slide1.xml" Id="Ra88ca97197834311" /><Relationship Type="http://schemas.openxmlformats.org/officeDocument/2006/relationships/slide" Target="/ppt/slides/slide2.xml" Id="R02b2f210f1b5431e" /><Relationship Type="http://schemas.openxmlformats.org/officeDocument/2006/relationships/slide" Target="/ppt/slides/slide3.xml" Id="Rb83fd8ed59c9430a" /><Relationship Type="http://schemas.openxmlformats.org/officeDocument/2006/relationships/slide" Target="/ppt/slides/slide4.xml" Id="Rae3da1c04ded4219" /><Relationship Type="http://schemas.openxmlformats.org/officeDocument/2006/relationships/slide" Target="/ppt/slides/slide5.xml" Id="R556f3341e04a4787" /><Relationship Type="http://schemas.openxmlformats.org/officeDocument/2006/relationships/slide" Target="/ppt/slides/slide6.xml" Id="R1d610bafdb1e48cf" /><Relationship Type="http://schemas.openxmlformats.org/officeDocument/2006/relationships/slide" Target="/ppt/slides/slide7.xml" Id="Rd4c669247f11407c" /><Relationship Type="http://schemas.openxmlformats.org/officeDocument/2006/relationships/slide" Target="/ppt/slides/slide8.xml" Id="Rf2ea50cf916940e8" /><Relationship Type="http://schemas.openxmlformats.org/officeDocument/2006/relationships/slide" Target="/ppt/slides/slide9.xml" Id="Rd2ddc73ee6a8412d" /><Relationship Type="http://schemas.openxmlformats.org/officeDocument/2006/relationships/slide" Target="/ppt/slides/slide10.xml" Id="Rd9685cd78b9743c4" /><Relationship Type="http://schemas.openxmlformats.org/officeDocument/2006/relationships/slide" Target="/ppt/slides/slide11.xml" Id="R4a65838ef9d9404b" /><Relationship Type="http://schemas.openxmlformats.org/officeDocument/2006/relationships/slide" Target="/ppt/slides/slide12.xml" Id="R069e629ffe5d4e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76544986244f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392852c1f54afd" /><Relationship Type="http://schemas.openxmlformats.org/officeDocument/2006/relationships/notesMaster" Target="/ppt/notesMasters/notesMaster1.xml" Id="Rb034bc9fb41741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d8ecadb25a4e1b" /><Relationship Type="http://schemas.openxmlformats.org/officeDocument/2006/relationships/notesMaster" Target="/ppt/notesMasters/notesMaster1.xml" Id="R6d8bedb27faf4e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64d09b8c0f4479" /><Relationship Type="http://schemas.openxmlformats.org/officeDocument/2006/relationships/notesMaster" Target="/ppt/notesMasters/notesMaster1.xml" Id="Rddcaa33cdae94a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bbce54f5ac43d7" /><Relationship Type="http://schemas.openxmlformats.org/officeDocument/2006/relationships/notesMaster" Target="/ppt/notesMasters/notesMaster1.xml" Id="Re5e0a549c31c4f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2e6c2c5bea4412" /><Relationship Type="http://schemas.openxmlformats.org/officeDocument/2006/relationships/notesMaster" Target="/ppt/notesMasters/notesMaster1.xml" Id="R9364c7e21a2347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ffbcf8c7334334" /><Relationship Type="http://schemas.openxmlformats.org/officeDocument/2006/relationships/notesMaster" Target="/ppt/notesMasters/notesMaster1.xml" Id="R0cb7c7fdb51943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0a19e3b3714f3f" /><Relationship Type="http://schemas.openxmlformats.org/officeDocument/2006/relationships/notesMaster" Target="/ppt/notesMasters/notesMaster1.xml" Id="R03b8186c637046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938a0ec6b046d3" /><Relationship Type="http://schemas.openxmlformats.org/officeDocument/2006/relationships/notesMaster" Target="/ppt/notesMasters/notesMaster1.xml" Id="Re3e5fb5947454b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b78c64d13f4aab" /><Relationship Type="http://schemas.openxmlformats.org/officeDocument/2006/relationships/notesMaster" Target="/ppt/notesMasters/notesMaster1.xml" Id="R4ef06276d8df4a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8d0262ae204c93" /><Relationship Type="http://schemas.openxmlformats.org/officeDocument/2006/relationships/notesMaster" Target="/ppt/notesMasters/notesMaster1.xml" Id="R0318f33b7bcb4c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321887910d46b8" /><Relationship Type="http://schemas.openxmlformats.org/officeDocument/2006/relationships/notesMaster" Target="/ppt/notesMasters/notesMaster1.xml" Id="R9f1dc2c3eacb40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47236809d44bbd" /><Relationship Type="http://schemas.openxmlformats.org/officeDocument/2006/relationships/notesMaster" Target="/ppt/notesMasters/notesMaster1.xml" Id="Rf1cbb83f5a4d41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ShopSense project implementation and README; capstoneProjects.pdf, ShopSense milestone description (pages 9–10); datasource.pdf, ShopSense policy/data and golden-evaluation guidance (pages 18–19).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ShopSense project implementation and README; capstoneProjects.pdf, ShopSense milestone description (pages 9–10); datasource.pdf, ShopSense policy/data and golden-evaluation guidance (pages 18–19).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ShopSense project implementation and README; capstoneProjects.pdf, ShopSense milestone description (pages 9–10); datasource.pdf, ShopSense policy/data and golden-evaluation guidance (pages 18–19).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ShopSense project implementation and README; capstoneProjects.pdf, ShopSense milestone description (pages 9–10); datasource.pdf, ShopSense policy/data and golden-evaluation guidance (pages 18–19).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ShopSense project implementation and README; capstoneProjects.pdf, ShopSense milestone description (pages 9–10); datasource.pdf, ShopSense policy/data and golden-evaluation guidance (pages 18–19).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ShopSense project implementation and README; capstoneProjects.pdf, ShopSense milestone description (pages 9–10); datasource.pdf, ShopSense policy/data and golden-evaluation guidance (pages 18–19).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ShopSense project implementation and README; capstoneProjects.pdf, ShopSense milestone description (pages 9–10); datasource.pdf, ShopSense policy/data and golden-evaluation guidance (pages 18–19).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ShopSense project implementation and README; capstoneProjects.pdf, ShopSense milestone description (pages 9–10); datasource.pdf, ShopSense policy/data and golden-evaluation guidance (pages 18–19).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ShopSense README, M8 local FastAPI demo instructions. Sources: ShopSense project implementation and README; capstoneProjects.pdf, ShopSense milestone description (pages 9–10); datasource.pdf, ShopSense policy/data and golden-evaluation guidance (pages 18–19).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local FastAPI demo questions. Sources: ShopSense project implementation and README; capstoneProjects.pdf, ShopSense milestone description (pages 9–10); datasource.pdf, ShopSense policy/data and golden-evaluation guidance (pages 18–19).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ShopSense project implementation and README; capstoneProjects.pdf, ShopSense milestone description (pages 9–10); datasource.pdf, ShopSense policy/data and golden-evaluation guidance (pages 18–19).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ShopSense project implementation and README; capstoneProjects.pdf, ShopSense milestone description (pages 9–10); datasource.pdf, ShopSense policy/data and golden-evaluation guidance (pages 18–19).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9fc45a20e47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bb2e8cc7b45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46b84c1de444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2fb8d456d547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af484d2cd643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0db20bc5a4d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A0ADB7-FD45-4F99-B441-AB5A53F983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44D0D5-83E0-466E-AF6B-1AE34BCA21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48E2F4-3091-4303-A70A-AB3A4E6960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ECB76B-8B10-45F9-940B-BB46D93811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6AA0FE-14FE-4B05-A02B-3F3B69EF58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8CFFB5-9F14-4624-A589-03477FD158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272845-32CD-4C91-955E-7AB0F6836B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1E4F8B-1760-4A17-BB4D-FB9E29D3D0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70E7CA-F6C5-4422-902E-C9DD94334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7D8788-F2C8-498F-A1A7-84CFDD4300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d3fbd0eef34a6e" /><Relationship Type="http://schemas.openxmlformats.org/officeDocument/2006/relationships/slideLayout" Target="/ppt/slideLayouts/slideLayout1.xml" Id="R219fb8aa6b694271" /><Relationship Type="http://schemas.openxmlformats.org/officeDocument/2006/relationships/slideLayout" Target="/ppt/slideLayouts/slideLayout2.xml" Id="Rd6d3a057f6114892" /><Relationship Type="http://schemas.openxmlformats.org/officeDocument/2006/relationships/slideLayout" Target="/ppt/slideLayouts/slideLayout3.xml" Id="R22921c5a8c7b4734" /><Relationship Type="http://schemas.openxmlformats.org/officeDocument/2006/relationships/slideLayout" Target="/ppt/slideLayouts/slideLayout4.xml" Id="Rfc9371f0a3654ade" /><Relationship Type="http://schemas.openxmlformats.org/officeDocument/2006/relationships/slideLayout" Target="/ppt/slideLayouts/slideLayout5.xml" Id="R09cbec4809ae4574" /><Relationship Type="http://schemas.openxmlformats.org/officeDocument/2006/relationships/slideLayout" Target="/ppt/slideLayouts/slideLayout6.xml" Id="R7fd61136e7ca45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9fb8aa6b694271"/>
    <p:sldLayoutId xmlns:r="http://schemas.openxmlformats.org/officeDocument/2006/relationships" id="2147483650" r:id="Rd6d3a057f6114892"/>
    <p:sldLayoutId xmlns:r="http://schemas.openxmlformats.org/officeDocument/2006/relationships" id="2147483651" r:id="R22921c5a8c7b4734"/>
    <p:sldLayoutId xmlns:r="http://schemas.openxmlformats.org/officeDocument/2006/relationships" id="2147483652" r:id="Rfc9371f0a3654ade"/>
    <p:sldLayoutId xmlns:r="http://schemas.openxmlformats.org/officeDocument/2006/relationships" id="2147483653" r:id="R09cbec4809ae4574"/>
    <p:sldLayoutId xmlns:r="http://schemas.openxmlformats.org/officeDocument/2006/relationships" id="2147483654" r:id="R7fd61136e7ca45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40d34aae15449e" /><Relationship Type="http://schemas.openxmlformats.org/officeDocument/2006/relationships/notesSlide" Target="/ppt/notesSlides/notesSlide1.xml" Id="R8dc9f65fb99c4b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653cf25c7740e9" /><Relationship Type="http://schemas.openxmlformats.org/officeDocument/2006/relationships/notesSlide" Target="/ppt/notesSlides/notesSlide2.xml" Id="R9c65af97c3044c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7fd356ea6544f5" /><Relationship Type="http://schemas.openxmlformats.org/officeDocument/2006/relationships/notesSlide" Target="/ppt/notesSlides/notesSlide3.xml" Id="R37b72f696e8744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318bbe4eae44ad" /><Relationship Type="http://schemas.openxmlformats.org/officeDocument/2006/relationships/notesSlide" Target="/ppt/notesSlides/notesSlide4.xml" Id="Reddf1cfb9bbc4b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6e41626fcc42b0" /><Relationship Type="http://schemas.openxmlformats.org/officeDocument/2006/relationships/notesSlide" Target="/ppt/notesSlides/notesSlide5.xml" Id="Rd974de04a1b140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803475494949b3" /><Relationship Type="http://schemas.openxmlformats.org/officeDocument/2006/relationships/notesSlide" Target="/ppt/notesSlides/notesSlide6.xml" Id="Rb3f42a5de85d47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85fce06c744268" /><Relationship Type="http://schemas.openxmlformats.org/officeDocument/2006/relationships/notesSlide" Target="/ppt/notesSlides/notesSlide7.xml" Id="R8dd065dd600f46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985a8e58e14262" /><Relationship Type="http://schemas.openxmlformats.org/officeDocument/2006/relationships/notesSlide" Target="/ppt/notesSlides/notesSlide8.xml" Id="R49d6b27b7e754d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eb311754a449d1" /><Relationship Type="http://schemas.openxmlformats.org/officeDocument/2006/relationships/notesSlide" Target="/ppt/notesSlides/notesSlide9.xml" Id="Rfeeb646bd9f240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626d2ae10a404a" /><Relationship Type="http://schemas.openxmlformats.org/officeDocument/2006/relationships/notesSlide" Target="/ppt/notesSlides/notesSlide10.xml" Id="Rc4da84a609584e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6460e75db444d6" /><Relationship Type="http://schemas.openxmlformats.org/officeDocument/2006/relationships/notesSlide" Target="/ppt/notesSlides/notesSlide11.xml" Id="Rd05f20f30bed48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e7d92583524bab" /><Relationship Type="http://schemas.openxmlformats.org/officeDocument/2006/relationships/notesSlide" Target="/ppt/notesSlides/notesSlide12.xml" Id="Ra04e9f53d52944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07A95F-4735-4658-A9E8-E48FB669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52960-CDD4-472E-BD2B-FFBE8DD4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>
            <a:defPPr>
              <a:defRPr sz="1200" b="1" i="0">
                <a:solidFill>
                  <a:srgbClr val="A7F3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A7F3E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7F3EF"/>
                </a:solidFill>
                <a:latin typeface="Arial"/>
                <a:ea typeface="Arial"/>
                <a:cs typeface="Arial"/>
              </a:rPr>
              <a:t>SHOPSENSE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F4A69-366F-4BAF-8E98-ECF891F9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858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3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 support</a:t>
            </a:r>
          </a:p>
          <a:p xmlns:a="http://schemas.openxmlformats.org/drawingml/2006/main">
            <a:pPr>
              <a:defRPr sz="3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order-operations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9D193-4906-4688-A01C-5354D37A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0" i="0">
                <a:solidFill>
                  <a:srgbClr val="D9E2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 i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9E2EC"/>
                </a:solidFill>
                <a:latin typeface="Arial"/>
                <a:ea typeface="Arial"/>
                <a:cs typeface="Arial"/>
              </a:rPr>
              <a:t>M1–M8 capstone implementation</a:t>
            </a:r>
          </a:p>
          <a:p xmlns:a="http://schemas.openxmlformats.org/drawingml/2006/main">
            <a:pPr>
              <a:defRPr sz="1650" b="0" i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9E2EC"/>
                </a:solidFill>
                <a:latin typeface="Arial"/>
                <a:ea typeface="Arial"/>
                <a:cs typeface="Arial"/>
              </a:rPr>
              <a:t>10-minute walkthrough and local FastAPI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E68C2-40D2-424E-9969-92AEC9B6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2573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ACA2E-2FB5-4327-962A-6533A73E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Structured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6BE7B-7375-4C86-BB01-F788489B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86200"/>
            <a:ext cx="13525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E1973-C595-4971-8DD3-01403F25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43350"/>
            <a:ext cx="1200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Grounded 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F9D8F-1CA4-41F4-8C0F-60F1A28D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86200"/>
            <a:ext cx="1447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8D731-6D71-49AB-8359-6C44E2B8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43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 automation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03E74-AED3-4EFB-AA77-6FC90F16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09700"/>
            <a:ext cx="27813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173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C84DA-D472-4E7F-85FD-A1A45E6A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33550"/>
            <a:ext cx="2095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7C203-09C8-4ED5-B885-F8D9E852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050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148"/>
          </a:bodyPr>
          <a:lstStyle xmlns:a="http://schemas.openxmlformats.org/drawingml/2006/main">
            <a:def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Customer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26976-7530-434F-B629-82E567E2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90775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0">
            <a:solidFill>
              <a:srgbClr val="0F9D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1746C-F473-4C76-848E-32510210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2095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D8830-8DF9-4C74-B028-99BFC650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146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980"/>
          </a:bodyPr>
          <a:lstStyle xmlns:a="http://schemas.openxmlformats.org/drawingml/2006/main">
            <a:def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ShopSense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DB195-CD12-471C-A054-6FC5D02B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9090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441"/>
          </a:solidFill>
          <a:ln xmlns:a="http://schemas.openxmlformats.org/drawingml/2006/main" w="0">
            <a:solidFill>
              <a:srgbClr val="F2B44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099E2-64FA-4BB4-B943-B222DCE8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43325"/>
            <a:ext cx="2095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9849C-894F-49AA-9018-C99700BD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902"/>
          </a:bodyPr>
          <a:lstStyle xmlns:a="http://schemas.openxmlformats.org/drawingml/2006/main">
            <a:defPPr>
              <a:defRPr sz="12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Grounded response</a:t>
            </a:r>
          </a:p>
          <a:p xmlns:a="http://schemas.openxmlformats.org/drawingml/2006/main">
            <a:pPr>
              <a:defRPr sz="12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or escalation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54CE4-DDC1-4A11-AECB-7A2A3A3F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>
            <a:defPPr>
              <a:defRPr sz="1125" b="0" i="0">
                <a:solidFill>
                  <a:srgbClr val="A7F3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A7F3E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7F3EF"/>
                </a:solidFill>
                <a:latin typeface="Arial"/>
                <a:ea typeface="Arial"/>
                <a:cs typeface="Arial"/>
              </a:rPr>
              <a:t>Local demo: FastAPI + Postman</a:t>
            </a:r>
          </a:p>
        </p:txBody>
      </p:sp>
    </p:spTree>
    <p:extLst>
      <p:ext uri="{BB962C8B-B14F-4D97-AF65-F5344CB8AC3E}">
        <p14:creationId xmlns:p14="http://schemas.microsoft.com/office/powerpoint/2010/main" val="1561018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E3845-D0A0-48B0-B8B2-B4A0D3E4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9D9A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249BF-52A7-4A16-8001-F4B00EFA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>
            <a:def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ShopSense handles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CA84E-B5E0-4668-9095-FFB096C2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 customer-support assistant that combines policy knowledge with safe access to order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E58D9-DEFA-4A6D-8120-43C32374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234B1-5F28-4F21-8665-DF13157B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Customer needs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3BC86-559B-4984-9BE7-9255D884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Track orders and shipments</a:t>
            </a:r>
          </a:p>
          <a:p xmlns:a="http://schemas.openxmlformats.org/drawingml/2006/main">
            <a:pPr>
              <a:defRPr sz="15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Understand returns, refunds, and warranties</a:t>
            </a:r>
          </a:p>
          <a:p xmlns:a="http://schemas.openxmlformats.org/drawingml/2006/main">
            <a:pPr>
              <a:defRPr sz="15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Remember prior contacts and preferences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3F5C3-C50C-45EC-B452-0792012C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62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System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0BE13-2CFD-4A10-99CD-10043C70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19350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Retrieve only verified policy evidence</a:t>
            </a:r>
          </a:p>
          <a:p xmlns:a="http://schemas.openxmlformats.org/drawingml/2006/main">
            <a:pPr>
              <a:defRPr sz="15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Query only customer-safe operational fields</a:t>
            </a:r>
          </a:p>
          <a:p xmlns:a="http://schemas.openxmlformats.org/drawingml/2006/main">
            <a:pPr>
              <a:defRPr sz="15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Escalate unsafe or high-risk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5D810-9CB4-4A75-BCB0-D7BD96A0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38350"/>
            <a:ext cx="2076450" cy="21336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D269A-4BA5-4BE6-9C55-BFF090B1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241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>
            <a:defPPr>
              <a:defRPr sz="1275" b="1" i="0">
                <a:solidFill>
                  <a:srgbClr val="A7F3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A7F3E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7F3EF"/>
                </a:solidFill>
                <a:latin typeface="Arial"/>
                <a:ea typeface="Arial"/>
                <a:cs typeface="Arial"/>
              </a:rPr>
              <a:t>Design goal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BC3E4-1DC6-414D-BCD4-FA6A865E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1619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970"/>
          </a:bodyPr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Useful answers</a:t>
            </a:r>
          </a:p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without invented policy,</a:t>
            </a:r>
          </a:p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unsafe automation,</a:t>
            </a:r>
          </a:p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 data leakage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C8113-3B74-4AAF-8FA1-90021793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2D832-B015-4572-B67B-0CACB8BF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>
            <a:def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43151-ACCE-49A0-A287-6CFDA563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>
            <a:def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53301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8D30D1-7DB8-49B2-8383-7FA9FEFD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9D9A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405E1-0431-4924-B35F-6021EEBC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>
            <a:def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Eight milestones, one customer-resolution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E6D4F-91F5-4D27-8B8A-945AD81E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Each milestone adds a specific capability while retaining the earlier safeguards.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7447B-20EF-4E78-A36A-03A2FF38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C4CC1-6A74-4830-AEF9-F3B01563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495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EAD31-4C7F-48E6-B846-BF0AD233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8191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CF4F9-22A1-4216-A11C-6B5EC3F6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85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63103-086D-4F05-AF90-FA38D0C5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9072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>
            <a:def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Structured ticket intake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44FDA-7BC9-4181-AF43-45B884EB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383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Provider-agnostic parsing into a validated support-ticket 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B23C9-CDBF-48CE-ADB5-CF70DD05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495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DCB17-0A71-4CF9-8BB1-B12819D8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191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D59E8-B949-4ECD-8B68-83C398CA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0512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66A77-23FA-4E04-8DEF-EFBAFAF9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0987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>
            <a:def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Single agent with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3F691-D635-4DDC-A042-369DE676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5752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Order, shipment, refund, and approved-total reads from mock APIs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1EB1D-8BA6-463A-926D-6E2C39C5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95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F3526-F0C9-48C8-A821-B42EE1EA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8191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B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A11934-0749-4D83-9A39-F3D2E9B6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242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C775EF-912A-4ABB-A32D-78B115C7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2902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>
            <a:def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Memory and policy index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DBB2E-1E67-40E7-9859-325161DE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766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Supermemory customer context plus Qdrant policy chunks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6D926E-F264-4434-A7DA-2C5C5046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495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5FA15-1ABD-481B-9598-6247B0A8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8191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5C0293-71A4-407F-80C8-8C89238F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4342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F91500-E987-4F5A-8782-263F55C2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4817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>
            <a:def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Production RAG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4BED5F-6CEF-4FBA-AF13-06E8D103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9582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Hybrid retrieval, reranking, exact source citations, grounding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8FCCC0-0132-4AB7-9E0B-2C1AD980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66900"/>
            <a:ext cx="495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3ECD99-5B18-4A19-A365-6822679F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66900"/>
            <a:ext cx="8191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14963C-4A1E-4461-9E5F-7956A8A9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85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9A32CA-0BEF-4846-B5C0-D5FB5A08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9072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>
            <a:def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Checkpointed workflow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007C32-0F66-49B9-A8C2-0162B072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383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LangGraph risk routing and human-approval interrupts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546FA7-5531-4EEE-88EE-3B231A61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495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587394-6ECF-4EAA-8DD0-A10AAC38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8191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E26146-CB27-4A1A-82DE-826B3954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0512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14722C-976E-4A2A-8395-5FBEB576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0987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>
            <a:def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Multi-agent and MCP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A53EA8-2BC5-444D-8521-A9C85957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5752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Triage, Policy RAG, Order Actions, Escalation Reviewer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F6E50E-446A-478A-8C14-56DEFA0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05200"/>
            <a:ext cx="495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73B592-B08E-47BB-A616-8456517F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05200"/>
            <a:ext cx="8191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B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59BC23-7A67-407C-AE79-8A2ADA0F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242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B8CEE8-5162-46C3-9471-428D2892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2902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>
            <a:def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Reliability and tracing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CFA1B3-8447-490D-94EB-EF810617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766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LangFuse, retries, circuit breaker, durable human queue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94873E-633D-431D-AFB5-A8854023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95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3DFC27-54C0-4DB2-BD1E-7E52786D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8191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BB3C4D-E0B3-4B8B-A353-03802143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4342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E7454E-239B-4FBB-BE77-2A3D3954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4817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>
            <a:def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Demo API and evaluation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D76A59-F996-421C-8023-B886B4A5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9582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FastAPI chat endpoint, guardrails, golden-set evaluation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C4C9B9-2736-4E5C-B9D3-8A1E88BE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B428F7-A66D-4C24-8918-D40F5C8B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>
            <a:def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184FCE-57C9-4898-8BE3-4091095C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>
            <a:def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339066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BCE952-1B39-404D-B7EC-C046A47E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9D9A"/>
                </a:solidFill>
                <a:latin typeface="Arial"/>
                <a:ea typeface="Arial"/>
                <a:cs typeface="Arial"/>
              </a:rPr>
              <a:t>DATA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438CB-EABC-4604-BF88-5B0C966F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>
            <a:def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Four controlled inputs keep the project demonstrable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EF512-A893-4C93-A1E1-F4D4B35D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The assistant reads source data and policy evidence. It does not change the mock operational records.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DF62B-1F1C-4F7E-B9B3-F1AFA919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AFDDF-B9D6-4E8B-89DA-B8DB22A8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933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2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DFA80-ABFA-4DEA-BCA2-B47DE702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B18A4-1F5B-4433-88E6-A92150D2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098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>
            <a:defPPr>
              <a:defRPr sz="16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Ticket 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587B5-4D7F-47CC-8594-90DDCE40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098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>
            <a:defPPr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M1 source records with raw text, references, and supplied ground truth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5602E-CD1E-48FD-ABDC-E512D592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43100"/>
            <a:ext cx="4933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83D34-6CE8-4B12-8F56-8E65D678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8DC13-4ABE-498F-BE07-AC9EF37A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>
            <a:defPPr>
              <a:defRPr sz="16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Mock 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C8844-63A4-4E8F-9D5D-3F7E299F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>
            <a:defPPr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Orders, customers, products, shipments, and refund rows for M2/M6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54B7D-63F3-4DB7-A6D8-E11D262B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933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1E811-CC95-4AC8-AFD2-F6A21B9F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4971C9-4570-4D6B-8B39-C7D22C28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814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>
            <a:defPPr>
              <a:defRPr sz="16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Policy corpus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FF227-B5D1-4E7D-93FA-A9851C63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815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>
            <a:defPPr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Markdown and PDF policy files indexed in Qdrant for M3/M4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AB1CF-B4A0-4790-8C09-C0CEA757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14750"/>
            <a:ext cx="4933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CE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7C622-740F-456F-813E-D32314D1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95696-8AEC-486E-A822-E58EBFD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>
            <a:defPPr>
              <a:defRPr sz="16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Golden evaluation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98E857-3276-4110-8DBA-2A43EAB6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815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>
            <a:defPPr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Twenty test tickets covering factual, guardrail, injection, multi-hop, and unanswerable cases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0E585-235B-4D7A-9B26-AE319BA8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61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918"/>
          </a:bodyPr>
          <a:lstStyle xmlns:a="http://schemas.openxmlformats.org/drawingml/2006/main">
            <a:defPPr>
              <a:defRPr sz="14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Data contract: policy answers use cited policy evidence; operational answers use safe mock-API fields; risky cases route to human review.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52CFD4-CBD0-4BA6-BF42-32513912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BC637A-F0E2-4D36-9781-5E2E55A0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>
            <a:def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9B1189-8F6F-4FFB-9488-771B9A66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>
            <a:def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32631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FC6757-23BA-4E67-8E57-E96D5EAC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9D9A"/>
                </a:solidFill>
                <a:latin typeface="Arial"/>
                <a:ea typeface="Arial"/>
                <a:cs typeface="Arial"/>
              </a:rPr>
              <a:t>M1–M2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2D581-EA64-4707-9B7A-F37A66DA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>
            <a:def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Reliable intake and operational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F3780-0E04-48DA-B8B4-28D16DE0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The first two milestones convert a support request into validated fields and controlled operational reads.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F18EF-DD97-4D46-AD07-BC0C99F9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51445-E5AE-48ED-A9E4-473C74BC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4667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2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42C30-5AD6-4564-B82A-C604CBA0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5334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12ADC-E360-413D-9F65-3A81C572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288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72983-9737-47DD-B834-F893EC87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>
            <a:defPPr>
              <a:defRPr sz="18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Parse and validate the 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CC028-F700-455F-9607-781E25D2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3333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143"/>
          </a:bodyPr>
          <a:lstStyle xmlns:a="http://schemas.openxmlformats.org/drawingml/2006/main">
            <a:defPPr>
              <a:defRPr sz="15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Raw ticket text becomes a Pydantic SupportTicket with: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issue type</a:t>
            </a:r>
          </a:p>
          <a:p xmlns:a="http://schemas.openxmlformats.org/drawingml/2006/main">
            <a:pPr>
              <a:defRPr sz="15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order reference</a:t>
            </a:r>
          </a:p>
          <a:p xmlns:a="http://schemas.openxmlformats.org/drawingml/2006/main">
            <a:pPr>
              <a:defRPr sz="15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sentiment</a:t>
            </a:r>
          </a:p>
          <a:p xmlns:a="http://schemas.openxmlformats.org/drawingml/2006/main">
            <a:pPr>
              <a:defRPr sz="15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urgency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094D9-60DB-45F3-9B22-74BB1DCB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24050"/>
            <a:ext cx="4667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83C90-568E-4F2E-B75D-916DF64D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71700"/>
            <a:ext cx="5334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A80B1-3EF0-4AB9-A08A-E6489892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288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AB3E4-41A1-4FD8-8053-949A93C8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>
            <a:defPPr>
              <a:defRPr sz="18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Call read-only LangChain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FC1AA-4B51-4980-918E-966B1A7F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lookup_order</a:t>
            </a:r>
          </a:p>
          <a:p xmlns:a="http://schemas.openxmlformats.org/drawingml/2006/main">
            <a:pPr>
              <a:defRPr sz="14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track_shipment</a:t>
            </a:r>
          </a:p>
          <a:p xmlns:a="http://schemas.openxmlformats.org/drawingml/2006/main">
            <a:pPr>
              <a:defRPr sz="14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refund_or_replace</a:t>
            </a:r>
          </a:p>
          <a:p xmlns:a="http://schemas.openxmlformats.org/drawingml/2006/main">
            <a:pPr>
              <a:defRPr sz="14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get_refund_amount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Approved, processed, requested, and rejected amounts stay distinct.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09AE2-E182-40AA-AEA4-88F80A62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No mock data is modified by the assistant.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8B910-3E47-4096-9D15-6E53153F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72324-760B-49B0-A984-D4C51577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>
            <a:def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445D1-AF87-48FB-B3EA-8498F96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>
            <a:def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23960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5EA8A9-97F5-42D4-944B-8F3F1277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9D9A"/>
                </a:solidFill>
                <a:latin typeface="Arial"/>
                <a:ea typeface="Arial"/>
                <a:cs typeface="Arial"/>
              </a:rPr>
              <a:t>M3–M4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702A4-653E-4BA8-89BC-10E0C5E9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>
            <a:def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Persistent context and grounded policy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81B40-F143-429C-ACEE-513152C4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Customer memory and policy RAG serve different purposes and keep their data boundaries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6DA91-8018-4C97-8E2A-58D7177D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CFF90-9074-427C-846D-AA9CE8F5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800600" cy="293370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5F9EC-F341-4614-A918-2D1CB78B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5334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2B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588B0-839D-4625-B529-7337990F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>
            <a:def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FE5CA-D0DC-4778-9B36-AE416666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>
            <a:defPPr>
              <a:defRPr sz="18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Persistent customer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6183F-95A0-4E40-88A1-03B9CBAE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3714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Historical tickets and stated preferences</a:t>
            </a:r>
          </a:p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Memory isolated by customer reference</a:t>
            </a:r>
          </a:p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Rolling conversation summary</a:t>
            </a:r>
          </a:p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Supermemory stores long-term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1C04B-7874-4333-93B6-4E4718D0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4800600" cy="293370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0A3C3-B45F-4E2D-BFA7-F61D74C8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5334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833CA-9A28-4012-96D6-3F02DA51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241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78AEC-D93F-422A-B6C5-642FA29B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2415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>
            <a:defPPr>
              <a:defRPr sz="18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Hybrid policy RAG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C29BC-BB23-429A-945A-A27D7D13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19450"/>
            <a:ext cx="3714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Qdrant dense retrieval plus local BM25</a:t>
            </a:r>
          </a:p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Reciprocal-rank fusion and reranking</a:t>
            </a:r>
          </a:p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Exact [SOURCE:...] citations</a:t>
            </a:r>
          </a:p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Grounding blocks unsupported policy claims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6A1BF-F394-4031-A98B-97CB7D8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Policy chunks are indexed once and queried on demand. Re-index only after policy or embedding changes.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F4F07-FA9B-4725-BBA3-1A1E1490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F8D33-915A-4F86-BBEA-B3E00DA4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>
            <a:def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8C511-33C4-46B4-817B-044A8698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>
            <a:def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234271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BD1BA0-1BA0-4D88-914E-B753EE1D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9D9A"/>
                </a:solidFill>
                <a:latin typeface="Arial"/>
                <a:ea typeface="Arial"/>
                <a:cs typeface="Arial"/>
              </a:rPr>
              <a:t>M5–M8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5308C-145A-4D6C-918D-3046A5B6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>
            <a:def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Workflow control, safe delivery, and operational confidence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55862-3B12-4F69-9CC7-5F33F9E1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Later milestones govern when the system acts, escalates, retries, or refuses.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9E776-F4C8-4B1E-9843-0CFFA93F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69D54-8FDE-4A5A-A08D-357F4828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1009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2B035-C575-44BB-A868-BC298CAA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990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78AA7-492D-4D1C-843E-E0C050D0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383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AF831-BB2A-4A69-A126-B9FC5F88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859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>
            <a:defPPr>
              <a:defRPr sz="16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LangGraph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C67D5-AC2E-44D5-9CC7-814497BA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098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>
            <a:def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Triage, policy check, action decision, conditional routing, checkpointing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543CD-8062-4F5A-B098-85A7FAE5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52725"/>
            <a:ext cx="1009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6A031-E5CD-4CFF-A461-BEDF8D76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52725"/>
            <a:ext cx="990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44F21-D256-455F-92CF-051764CB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089B0-AD5A-4A67-A2D3-ADCF6F6A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8860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>
            <a:defPPr>
              <a:defRPr sz="16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Multi-agent team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FD6CE-D727-4F3E-ADF0-D73EBCB9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099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>
            <a:def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Triage, Policy RAG, Order Actions, Escalation Reviewer, MCP façade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97218-C996-4B92-99F7-A468B9C5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1009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2B588-E8D6-4595-B460-781DCD3E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990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B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F0149-CB64-4FBB-8BC3-93285FDB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26C49-DE04-4174-A130-62E193F8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86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>
            <a:defPPr>
              <a:defRPr sz="16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Reliability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B5BEF1-AC8E-46EA-9C05-DEE4774F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21005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>
            <a:def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LangFuse traces, retry policy, circuit breaker, durable fallback 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61411-1783-48BB-9595-C5363227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1009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6E84C-ECCD-487B-934A-61096AD6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990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4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90A7BD-E4F5-4447-A244-0C9F60FE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387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A8FD8F-CC06-49D4-A289-F8387CBD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8863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>
            <a:defPPr>
              <a:defRPr sz="16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Demo delivery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2D759F-6882-49AA-B1E1-3B8AF97E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1017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>
            <a:def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FastAPI /chat, golden evaluation, prompt-injection and safety guardrails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CB992E-27E8-4200-B93E-13FD1BC2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4669AC-089F-4525-B261-D336CE26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>
            <a:def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4B0528-F199-47BC-B541-BB58D087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>
            <a:def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499575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AB81FC-619C-49C6-A00B-D9EF9273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9D9A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391F8-75B4-4FC3-888E-E9787F2A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>
            <a:def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One request, controlled specialist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6E0BF-288C-4A31-B61B-EB093A36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The workflow first identifies the request type, then selects the smallest safe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25C25-AD3E-4EC9-9AD6-87EA87F7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7486F-D472-4734-8709-54F5F734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344FE-8DE3-43CB-A36A-102B21CA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167"/>
          </a:bodyPr>
          <a:lstStyle xmlns:a="http://schemas.openxmlformats.org/drawingml/2006/main">
            <a:def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D5BEE-A829-4FF1-8467-0C590585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0">
            <a:solidFill>
              <a:srgbClr val="0F9D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71802-4A3A-4E20-8524-EAE9412F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2000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A3741-A069-49EC-B915-C4AFEEF8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145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667"/>
          </a:bodyPr>
          <a:lstStyle xmlns:a="http://schemas.openxmlformats.org/drawingml/2006/main">
            <a:def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M6 Triage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54E78-F705-4039-8A72-8984899F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62150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6B5D"/>
          </a:solidFill>
          <a:ln xmlns:a="http://schemas.openxmlformats.org/drawingml/2006/main" w="0">
            <a:solidFill>
              <a:srgbClr val="E46B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658A2-2E6E-4727-B981-7B30B33A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362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4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2C561-75A0-4606-BED2-5E90209F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14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>
            <a:def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M4 Policy RAG</a:t>
            </a:r>
          </a:p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Qdrant + BM25 + reranker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B7F92-851D-4170-84DA-D9CE6D0D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19450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D4DC9-E30C-49DB-8D21-A14916DD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362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2CE49-F3E9-4D7A-915B-6A6B73D2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>
            <a:def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M6 Order-Actions agent</a:t>
            </a:r>
          </a:p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MCP customer-safe mock APIs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93266-71D7-4C2D-89D5-1039F327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24375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441"/>
          </a:solidFill>
          <a:ln xmlns:a="http://schemas.openxmlformats.org/drawingml/2006/main" w="0">
            <a:solidFill>
              <a:srgbClr val="F2B4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CA307-D311-497F-A129-033C9B05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2362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2B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98DC4-6032-489E-9487-3EAEFA2A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862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309"/>
          </a:bodyPr>
          <a:lstStyle xmlns:a="http://schemas.openxmlformats.org/drawingml/2006/main">
            <a:defPPr>
              <a:defRPr sz="12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M3 Memory</a:t>
            </a:r>
          </a:p>
          <a:p xmlns:a="http://schemas.openxmlformats.org/drawingml/2006/main">
            <a:pPr>
              <a:defRPr sz="12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Supermemory + session summary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2D40E-094B-4C8E-90BB-3EE44D8A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3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929399-9325-4FF9-B544-58D60949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08"/>
          </a:bodyPr>
          <a:lstStyle xmlns:a="http://schemas.openxmlformats.org/drawingml/2006/main">
            <a:def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M5/M8 guardrails</a:t>
            </a:r>
          </a:p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escalation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EB538F-7105-4A58-818E-772A1EC2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05000"/>
            <a:ext cx="800100" cy="476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8658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3DE7F6-0B56-44BB-A398-F2308049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800100" cy="571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8658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868E7C-8DB3-4F9A-9355-9E1F6A7C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00350"/>
            <a:ext cx="800100" cy="16764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8658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38F47-A912-4AE7-8590-2C722EFE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10000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D61FEB-7DA4-47B1-A904-225FE05A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0050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Grounded answer</a:t>
            </a:r>
          </a:p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or human handoff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8369BF-A94F-42F8-A265-ACFE75BD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990850"/>
            <a:ext cx="0" cy="819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9D9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AEB975-C3D3-4297-B6E9-6A6BB202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42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M7 surrounds the workflow with LangFuse traces, retries, a circuit breaker, and a durable fallback queue.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32FE68-50BB-46B8-A14C-870FA70F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E47BB7-53B3-4774-A9A9-DDE3932D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>
            <a:def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3F4311-C914-4970-B410-D67DC895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>
            <a:def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45417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BBBC1-C053-4796-AC43-D616370D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9D9A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2A0A3-1AD2-4B48-ADD8-882F31B0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>
            <a:def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Local FastAPI and Postman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4F230-C373-4B69-86D8-3B82DC6E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Run the local service once, then send each demo question to the same endpoint.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570FB-0F25-46BB-84A8-DAA04F9B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13213-5FBF-4F2D-90CB-4DC7CFED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476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8FC37-22AD-4533-9408-4CF6E3FD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>
            <a:defPPr>
              <a:defRPr sz="1425" b="1" i="0">
                <a:solidFill>
                  <a:srgbClr val="A7F3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A7F3E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7F3EF"/>
                </a:solidFill>
                <a:latin typeface="Arial"/>
                <a:ea typeface="Arial"/>
                <a:cs typeface="Arial"/>
              </a:rPr>
              <a:t>Command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AB13E-B260-49AB-9818-10740222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371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cd &lt;capstone-project&gt;\shopsense-agent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.\.venv\Scripts\activate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-m shopsense.api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2AB8E-800B-473A-9851-105C550B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52750"/>
            <a:ext cx="781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0">
            <a:solidFill>
              <a:srgbClr val="0F9D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32302-8A97-4914-80E1-38584990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4476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2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36ECC-7F63-4AF1-B87C-9C9F451D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05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>
            <a:defPPr>
              <a:defRPr sz="14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Postman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CD585-A936-420D-AFDE-C419D5B2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304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POST</a:t>
            </a:r>
          </a:p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http://127.0.0.1:8000/chat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Body</a:t>
            </a:r>
          </a:p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{ "question": "..." 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5A1DC-73E6-4A44-890C-1373C4AE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>
            <a:defPPr>
              <a:defRPr sz="15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service generates a case ID. Use only question for the five live examples.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A9DF2-6CAB-4E03-8C45-F4236892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>
            <a:defPPr>
              <a:defRPr sz="12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Restart the server after code changes. Qdrant does not need rebuilding for ordinary demo questions.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34AE5-9314-4B47-BF36-BE189602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68DA2-901C-400C-BEC1-F37CEA83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>
            <a:def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BCDC6-95B4-49FF-ACEF-F4D8E30E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>
            <a:def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443719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CB5502-0EC9-4675-BBAD-6656D34C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9D9A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B093F-0AD6-4326-85D9-C2457FFC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>
            <a:def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Five questions that show the system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0BBE5-EF30-4E90-9E96-39ECD8A9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Each request exercises a different capability, not just a different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3A100-D70B-49A7-B667-4EA417DE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7DCE8-74E0-45B6-BACE-AC42C11D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0591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98C06-9A2F-46F2-8EB9-60AA7462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628650" cy="666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012D2-0AB7-44FD-94FE-C0BC6070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907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>
            <a:def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A356D-70EA-46B5-ABFE-046F21D7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876425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980"/>
          </a:bodyPr>
          <a:lstStyle xmlns:a="http://schemas.openxmlformats.org/drawingml/2006/main">
            <a:defPPr>
              <a:defRPr sz="12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Refund authority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FD16D-892B-4D98-B52B-15172FEB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66900"/>
            <a:ext cx="487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>
            <a:defPPr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are the refund rules related to amount? When is human approval needed?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88058-24F3-4ABA-9163-50F29321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431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F9D9A"/>
                </a:solidFill>
                <a:latin typeface="Arial"/>
                <a:ea typeface="Arial"/>
                <a:cs typeface="Arial"/>
              </a:rPr>
              <a:t>Policy RAG and approval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AE401-39FD-4BAA-A034-C3424A55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10591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0CB62-6D45-4693-835A-21ACD79D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628650" cy="666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BCD4A-3C52-4E25-AA0F-762C4849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289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>
            <a:def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10B8B-E466-472D-8DEA-2A40908F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14625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980"/>
          </a:bodyPr>
          <a:lstStyle xmlns:a="http://schemas.openxmlformats.org/drawingml/2006/main">
            <a:defPPr>
              <a:defRPr sz="12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Order details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FD3B1-4A8D-4326-A6B9-F5A78E8B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05100"/>
            <a:ext cx="487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Give me complete details of this order KW-O-001497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7E2B23-4DFA-4869-9FA8-E8DFBD30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813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 i="0">
                <a:solidFill>
                  <a:srgbClr val="2F80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80ED"/>
                </a:solidFill>
                <a:latin typeface="Arial"/>
                <a:ea typeface="Arial"/>
                <a:cs typeface="Arial"/>
              </a:rPr>
              <a:t>MCP operational lookup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62390E-D865-4C6A-8A6E-AAF4B1CC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D99EE1-2B87-4973-8399-774BB752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628650" cy="666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4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E5F1A-DAF5-41DA-BE3C-3A84FA77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>
            <a:def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3B20A8-602C-4B85-80CF-DD0DBAE8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52825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980"/>
          </a:bodyPr>
          <a:lstStyle xmlns:a="http://schemas.openxmlformats.org/drawingml/2006/main">
            <a:defPPr>
              <a:defRPr sz="12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High-risk refund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3A4A29-75C4-442B-8263-F291E262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43300"/>
            <a:ext cx="487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Third contact, ₹34,000 cracked TV, consumer forum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6CE4B-D67E-4AA5-A281-308FFEB5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195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 i="0">
                <a:solidFill>
                  <a:srgbClr val="E46B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E46B5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46B5D"/>
                </a:solidFill>
                <a:latin typeface="Arial"/>
                <a:ea typeface="Arial"/>
                <a:cs typeface="Arial"/>
              </a:rPr>
              <a:t>Escalate. Do not auto-approve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D07D97-4D5E-45C2-9219-32E62FE3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591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E16DE-697D-497F-9BC4-D88BEA76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628650" cy="666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B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9EC924-EF2E-49D9-A5AE-09B7D4CE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053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>
            <a:def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EB7CD3-3926-4CE6-BBFD-6ECC2B70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91025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980"/>
          </a:bodyPr>
          <a:lstStyle xmlns:a="http://schemas.openxmlformats.org/drawingml/2006/main">
            <a:defPPr>
              <a:defRPr sz="12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Category conflict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F7E0B5-CB43-45AE-A89F-2D3C5CB5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81500"/>
            <a:ext cx="487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Blender at 40 days; apparel has 45, so kitchen does too?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9A24FD-BFC0-413C-8A8C-EB43C5C4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577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 i="0">
                <a:solidFill>
                  <a:srgbClr val="F2B4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F2B44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B441"/>
                </a:solidFill>
                <a:latin typeface="Arial"/>
                <a:ea typeface="Arial"/>
                <a:cs typeface="Arial"/>
              </a:rPr>
              <a:t>Retrieve Home &amp; Kitchen rule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BD6942-796B-44CE-BF3D-2727206F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10591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D6A521-45E0-4024-9842-42299EB5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628650" cy="666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23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08C513-9BC4-417D-A04C-DAF8178F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43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>
            <a:def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62A9E2-E396-40A1-AD55-80DB0EEC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29225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980"/>
          </a:bodyPr>
          <a:lstStyle xmlns:a="http://schemas.openxmlformats.org/drawingml/2006/main">
            <a:defPPr>
              <a:defRPr sz="12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Out-of-scope policy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CD8421-0954-40AA-85B1-0E0BFD87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19700"/>
            <a:ext cx="487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is the company's stance on environmental sustainability?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4BF8D0-F24A-4106-B86B-EE3C5CD4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2959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 i="0">
                <a:solidFill>
                  <a:srgbClr val="1234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1234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45A"/>
                </a:solidFill>
                <a:latin typeface="Arial"/>
                <a:ea typeface="Arial"/>
                <a:cs typeface="Arial"/>
              </a:rPr>
              <a:t>Refuse without invented policy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822DA4-5EB1-47A0-A751-1AA860FC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B08C13-A35C-416F-B81B-4DD781B3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>
            <a:def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BABF5A-8417-4162-871D-B06A5C0D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>
            <a:def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78569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7BDE04-3782-411F-AF6F-BE4FF4EA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9D9A"/>
                </a:solidFill>
                <a:latin typeface="Arial"/>
                <a:ea typeface="Arial"/>
                <a:cs typeface="Arial"/>
              </a:rPr>
              <a:t>DEMO EXPECTATIONS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E9712-618B-427E-B58C-9666F7EF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>
            <a:def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a successful response looks like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452A3-3128-4B59-8C1C-90ECEAE3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The goal is controlled behavior: detailed when evidence exists, transparent when it does not.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58F99-EC05-4E0B-AEF6-1E6C3138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66B68-1CFF-4A14-8C02-A2929335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905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6FC1B-2F91-4167-BDDB-D5A7E08B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>
            <a:def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 authority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A0085-B93C-44E2-916B-BB79B0C9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716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Cited refund-cap and human-approval guidance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3DC49-8236-4E71-AE0E-B2AAB4D6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81250"/>
            <a:ext cx="746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3D127-E877-45B3-9967-B5380B3B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905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D1519-3741-492C-8288-CC7D1BCF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>
            <a:def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Operational lookup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15BB0-0BE9-400E-8288-566D39A3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574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Full customer-safe order details unless the user asks for a 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6AB06-451B-40E5-ADD6-B9582CCD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67050"/>
            <a:ext cx="746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A76B2-B5EB-4364-A005-E13C443E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1905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4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0A9DE-EF6A-4CA5-9A71-ECCADBAE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>
            <a:def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High-risk refund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2A868-BA90-4FA8-A9B2-80D982AE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432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Human-review route; acknowledges concern without admitting fault or issuing a refund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49F60-32F3-4BD7-A2FF-4DCC77CF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52850"/>
            <a:ext cx="746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A12F16-5EC7-4471-A5EC-D3852A40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905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B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B4D24-3041-4F29-95D2-DC08FD19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>
            <a:def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Category conflict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7CA34-A708-414A-9560-5129DDC4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290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Uses Home &amp; Kitchen evidence, rejects the apparel comparison, cites sources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4BA205-5B70-40F3-81F8-BF2ECF94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38650"/>
            <a:ext cx="746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EA9DC-4B14-4A54-B818-6EEAE5B8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1905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23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DE4EB-FC3F-460D-9746-BFE9E22D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>
            <a:def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Unsupported scope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E65931-31AD-4FAD-A45D-58BE7C4F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148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States the available policy corpus cannot answer; returns no irrelevant citation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B88114-E497-410A-A1CE-4A8AEF56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24450"/>
            <a:ext cx="746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859E72-62CC-4DCE-B42C-2CD96BED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492"/>
          </a:bodyPr>
          <a:lstStyle xmlns:a="http://schemas.openxmlformats.org/drawingml/2006/main">
            <a:def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If a source, model, or external service is unavailable, the system returns a safe clarification or routes the case to a human queue rather than fabricating an answer.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8724DB-D81F-4085-93BC-85E0C5FF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8801EF-154F-4261-9C39-F2FD44AC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>
            <a:def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8CB81B-6D70-4112-B2B0-368AD4B5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>
            <a:def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721979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620F8C-1302-484A-8D84-D90BF183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A8A2C-2190-42B5-BE0E-38FA0C05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>
            <a:defPPr>
              <a:defRPr sz="975" b="1" i="0">
                <a:solidFill>
                  <a:srgbClr val="A7F3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A7F3E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7F3EF"/>
                </a:solidFill>
                <a:latin typeface="Arial"/>
                <a:ea typeface="Arial"/>
                <a:cs typeface="Arial"/>
              </a:rPr>
              <a:t>CLOSING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4F583-70FE-434D-9C83-DFC31829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90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56"/>
          </a:bodyPr>
          <a:lstStyle xmlns:a="http://schemas.openxmlformats.org/drawingml/2006/main">
            <a:defPPr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ShopSense delivers a safe path</a:t>
            </a:r>
          </a:p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customer question to resolution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FB45B-7DE5-4B76-9338-05C3AA44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4FFC8-88F8-41D5-A2C7-10FB67B6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9831"/>
          </a:bodyPr>
          <a:lstStyle xmlns:a="http://schemas.openxmlformats.org/drawingml/2006/main">
            <a:def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826CB-FB34-4DA9-BDF1-A3A20D5E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145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Grounded policy answers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C0CE3-E3A3-4B68-8E80-E8FA7884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574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D9E2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9E2EC"/>
                </a:solidFill>
                <a:latin typeface="Arial"/>
                <a:ea typeface="Arial"/>
                <a:cs typeface="Arial"/>
              </a:rPr>
              <a:t>Citations and claim checks keep policy responses evidence-based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0C1F2-AB61-45F8-A10A-731D7B00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B0EC4-CC9A-4029-AEC9-42AE3D81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9831"/>
          </a:bodyPr>
          <a:lstStyle xmlns:a="http://schemas.openxmlformats.org/drawingml/2006/main">
            <a:def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FF980-DBAC-42FD-BFD7-9CB66F51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861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Controlled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F3AB9-25D6-4336-88B4-702F1429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2902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D9E2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9E2EC"/>
                </a:solidFill>
                <a:latin typeface="Arial"/>
                <a:ea typeface="Arial"/>
                <a:cs typeface="Arial"/>
              </a:rPr>
              <a:t>MCP exposes only customer-safe read-only mock API 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4AB0B-2E1E-404C-82DE-F5C69777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2F4E3-5FF1-4C2F-A417-4334C573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9831"/>
          </a:bodyPr>
          <a:lstStyle xmlns:a="http://schemas.openxmlformats.org/drawingml/2006/main">
            <a:def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78D7C-1801-4221-9D78-22B951E8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576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Escalation and reliability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F02BD-4240-41F7-8C9F-AA9EAEF8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005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D9E2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9E2EC"/>
                </a:solidFill>
                <a:latin typeface="Arial"/>
                <a:ea typeface="Arial"/>
                <a:cs typeface="Arial"/>
              </a:rPr>
              <a:t>Risk guardrails, checkpoints, traces, retries, and a fallback queue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6FF80-BFA9-463C-A2CD-C8A12BD3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95550"/>
            <a:ext cx="22479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3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25FB8B-A461-46E6-99D3-99682FAC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>
            <a:defPPr>
              <a:defRPr sz="1425" b="1" i="0">
                <a:solidFill>
                  <a:srgbClr val="A7F3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A7F3E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7F3EF"/>
                </a:solidFill>
                <a:latin typeface="Arial"/>
                <a:ea typeface="Arial"/>
                <a:cs typeface="Arial"/>
              </a:rPr>
              <a:t>Demo checklist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10195-1CDD-44B9-A66F-6ABC1E58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7660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24"/>
          </a:bodyPr>
          <a:lstStyle xmlns:a="http://schemas.openxmlformats.org/drawingml/2006/main">
            <a:defPPr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 Activate .venv</a:t>
            </a:r>
          </a:p>
          <a:p xmlns:a="http://schemas.openxmlformats.org/drawingml/2006/main">
            <a:pPr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 Start FastAPI</a:t>
            </a:r>
          </a:p>
          <a:p xmlns:a="http://schemas.openxmlformats.org/drawingml/2006/main">
            <a:pPr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3. Send five questions</a:t>
            </a:r>
          </a:p>
          <a:p xmlns:a="http://schemas.openxmlformats.org/drawingml/2006/main">
            <a:pPr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4. Show a LangFuse 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92E30-32C3-487F-A065-9F2A9479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>
            <a:defPPr>
              <a:defRPr sz="1275" b="1" i="0">
                <a:solidFill>
                  <a:srgbClr val="A7F3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A7F3E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7F3E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09536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2026-10-15T18:25:29.6830000Z</dcterms:created>
  <dcterms:modified xsi:type="dcterms:W3CDTF">2026-10-15T18:25:29.6830000Z</dcterms:modified>
</coreProperties>
</file>